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problem: cash, not profit, kills small businesses. Late payments and clustered bills create a gap that spreadsheets hide.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SMEs lack the time and tooling to forecast. Explain the three gaps: visibility, foresight,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dashboard of Northstar Studio: current cash EUR 7,020, shortfall predicted on 7 Nov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simulator reuses the exact forecast engine with modified inputs, so baseline and scenario are comparable.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is computed, not generated. Lowest point -EUR 2,308 on 7 Nov 2026 for Northstar 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Rescue plans are simulations, not guarantees. The credit line uses illustrative terms.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picks tools; tools return engine numbers. The trace under each answer shows which agents acted.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execution_evidence/api_core_scenario.md. 87 automated tests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 to the security self-assessment: implemented, partial and planned controls are listed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vision. Do not quote impact metrics we have not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Poppins"/>
              </a:defRPr>
            </a:pPr>
            <a:r>
              <a:t>The Invisible Financial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D3EE"/>
                </a:solidFill>
                <a:latin typeface="Inter"/>
              </a:defRPr>
            </a:pPr>
            <a:r>
              <a:t>A profitable SME can still run out of cash.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The shortfall is visible weeks ahead, but nobody is looking.</a:t>
            </a:r>
          </a:p>
        </p:txBody>
      </p:sp>
      <p:pic>
        <p:nvPicPr>
          <p:cNvPr id="5" name="Picture 4" descr="01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4008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4B8A6"/>
                </a:solidFill>
              </a:defRPr>
            </a:pPr>
            <a:r>
              <a:t>PULSE AI  |  FinTechathon 2026, Topic E  | 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Poppins"/>
              </a:defRPr>
            </a:pPr>
            <a:r>
              <a:t>Why SMEs Struggle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>
                <a:solidFill>
                  <a:srgbClr val="22D3EE"/>
                </a:solidFill>
                <a:latin typeface="Inter"/>
              </a:defRPr>
            </a:pPr>
            <a:r>
              <a:t>No finance team</a:t>
            </a:r>
          </a:p>
          <a:p>
            <a:pPr>
              <a:spcAft>
                <a:spcPts val="1200"/>
              </a:spcAft>
              <a:defRPr sz="2600">
                <a:solidFill>
                  <a:srgbClr val="FFFFFF"/>
                </a:solidFill>
                <a:latin typeface="Inter"/>
              </a:defRPr>
            </a:pPr>
            <a:r>
              <a:t>Data scattered across bank exports and sheets</a:t>
            </a:r>
          </a:p>
          <a:p>
            <a:pPr>
              <a:spcAft>
                <a:spcPts val="1200"/>
              </a:spcAft>
              <a:defRPr sz="2600">
                <a:solidFill>
                  <a:srgbClr val="FFFFFF"/>
                </a:solidFill>
                <a:latin typeface="Inter"/>
              </a:defRPr>
            </a:pPr>
            <a:r>
              <a:t>Tools describe the past, not the next 60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4B8A6"/>
                </a:solidFill>
              </a:defRPr>
            </a:pPr>
            <a:r>
              <a:t>PULSE AI  |  FinTechathon 2026, Topic E  |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Poppins"/>
              </a:defRPr>
            </a:pPr>
            <a:r>
              <a:t>Introducing PULSE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D3EE"/>
                </a:solidFill>
                <a:latin typeface="Inter"/>
              </a:defRPr>
            </a:pPr>
            <a:r>
              <a:t>A cash-flow copilot that predicts, simulates, and proposes,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while a human keeps the final decision.</a:t>
            </a:r>
          </a:p>
        </p:txBody>
      </p:sp>
      <p:pic>
        <p:nvPicPr>
          <p:cNvPr id="5" name="Picture 4" descr="0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4008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4B8A6"/>
                </a:solidFill>
              </a:defRPr>
            </a:pPr>
            <a:r>
              <a:t>PULSE AI  |  FinTechathon 2026, Topic E  |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Poppins"/>
              </a:defRPr>
            </a:pPr>
            <a:r>
              <a:t>The Financial Digital 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D3EE"/>
                </a:solidFill>
                <a:latin typeface="Inter"/>
              </a:defRPr>
            </a:pPr>
            <a:r>
              <a:t>Replay the business under any scenario: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customer delays, supplier terms, financing, revenue change.</a:t>
            </a:r>
          </a:p>
        </p:txBody>
      </p:sp>
      <p:pic>
        <p:nvPicPr>
          <p:cNvPr id="5" name="Picture 4" descr="08_simulator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4008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4B8A6"/>
                </a:solidFill>
              </a:defRPr>
            </a:pPr>
            <a:r>
              <a:t>PULSE AI  |  FinTechathon 2026, Topic E  | 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Poppins"/>
              </a:defRPr>
            </a:pPr>
            <a:r>
              <a:t>Predicting Financial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D3EE"/>
                </a:solidFill>
                <a:latin typeface="Inter"/>
              </a:defRPr>
            </a:pPr>
            <a:r>
              <a:t>Deterministic day-by-day forecast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Known flows plus uncertain baseline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Lowest point, shortfall date, risk level</a:t>
            </a:r>
          </a:p>
        </p:txBody>
      </p:sp>
      <p:pic>
        <p:nvPicPr>
          <p:cNvPr id="5" name="Picture 4" descr="06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4008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4B8A6"/>
                </a:solidFill>
              </a:defRPr>
            </a:pPr>
            <a:r>
              <a:t>PULSE AI  |  FinTechathon 2026, Topic E  | 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Poppins"/>
              </a:defRPr>
            </a:pPr>
            <a:r>
              <a:t>From Risk to Rescue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D3EE"/>
                </a:solidFill>
                <a:latin typeface="Inter"/>
              </a:defRPr>
            </a:pPr>
            <a:r>
              <a:t>Strategies simulated and ranked by impact: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Collect overdue +EUR 7,150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Credit line +EUR 4,560 (illustrative)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Supplier extension +EUR 4,372</a:t>
            </a:r>
          </a:p>
        </p:txBody>
      </p:sp>
      <p:pic>
        <p:nvPicPr>
          <p:cNvPr id="5" name="Picture 4" descr="05_dashboa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400800" cy="83877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4B8A6"/>
                </a:solidFill>
              </a:defRPr>
            </a:pPr>
            <a:r>
              <a:t>PULSE AI  |  FinTechathon 2026, Topic E  | 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Poppins"/>
              </a:defRPr>
            </a:pPr>
            <a:r>
              <a:t>Agentic 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D3EE"/>
                </a:solidFill>
                <a:latin typeface="Inter"/>
              </a:defRPr>
            </a:pPr>
            <a:r>
              <a:t>Financial Analyst, Forecast Analyst, Strategic Planner,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Workflow Coordinator, Risk Guardian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OpenAI tool calling with deterministic fallback</a:t>
            </a:r>
          </a:p>
        </p:txBody>
      </p:sp>
      <p:pic>
        <p:nvPicPr>
          <p:cNvPr id="5" name="Picture 4" descr="12_copilot_agent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4008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4B8A6"/>
                </a:solidFill>
              </a:defRPr>
            </a:pPr>
            <a:r>
              <a:t>PULSE AI  |  FinTechathon 2026, Topic E  | 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Poppins"/>
              </a:defRPr>
            </a:pPr>
            <a:r>
              <a:t>Live Demo and Execution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D3EE"/>
                </a:solidFill>
                <a:latin typeface="Inter"/>
              </a:defRPr>
            </a:pPr>
            <a:r>
              <a:t>Propose, approve, execute, recorded in the audit log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Unapproved execution refused (409)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No webhook: QUEUED, never falsely SENT</a:t>
            </a:r>
          </a:p>
        </p:txBody>
      </p:sp>
      <p:pic>
        <p:nvPicPr>
          <p:cNvPr id="5" name="Picture 4" descr="10_dec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4008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4B8A6"/>
                </a:solidFill>
              </a:defRPr>
            </a:pPr>
            <a:r>
              <a:t>PULSE AI  |  FinTechathon 2026, Topic E  | 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Poppins"/>
              </a:defRPr>
            </a:pPr>
            <a:r>
              <a:t>Security and Human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D3EE"/>
                </a:solidFill>
                <a:latin typeface="Inter"/>
              </a:defRPr>
            </a:pPr>
            <a:r>
              <a:t>JWT, bcrypt, hashed email codes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Role tiers from VIEWER to OWNER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Inter"/>
              </a:defRPr>
            </a:pPr>
            <a:r>
              <a:t>Admin console with account review and audit</a:t>
            </a:r>
          </a:p>
        </p:txBody>
      </p:sp>
      <p:pic>
        <p:nvPicPr>
          <p:cNvPr id="5" name="Picture 4" descr="14_admi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4008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4B8A6"/>
                </a:solidFill>
              </a:defRPr>
            </a:pPr>
            <a:r>
              <a:t>PULSE AI  |  FinTechathon 2026, Topic E  | 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109728" cy="822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Poppins"/>
              </a:defRPr>
            </a:pPr>
            <a:r>
              <a:t>Impact and Future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>
                <a:solidFill>
                  <a:srgbClr val="22D3EE"/>
                </a:solidFill>
                <a:latin typeface="Inter"/>
              </a:defRPr>
            </a:pPr>
            <a:r>
              <a:t>Weeks of warning instead of a surprise overdraft</a:t>
            </a:r>
          </a:p>
          <a:p>
            <a:pPr>
              <a:spcAft>
                <a:spcPts val="1200"/>
              </a:spcAft>
              <a:defRPr sz="2600">
                <a:solidFill>
                  <a:srgbClr val="FFFFFF"/>
                </a:solidFill>
                <a:latin typeface="Inter"/>
              </a:defRPr>
            </a:pPr>
            <a:r>
              <a:t>Next: ERP connectors (Odoo), bank feeds, MFA,</a:t>
            </a:r>
          </a:p>
          <a:p>
            <a:pPr>
              <a:spcAft>
                <a:spcPts val="1200"/>
              </a:spcAft>
              <a:defRPr sz="2600">
                <a:solidFill>
                  <a:srgbClr val="FFFFFF"/>
                </a:solidFill>
                <a:latin typeface="Inter"/>
              </a:defRPr>
            </a:pPr>
            <a:r>
              <a:t>learned forecasting on top of the deterministic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4B8A6"/>
                </a:solidFill>
              </a:defRPr>
            </a:pPr>
            <a:r>
              <a:t>PULSE AI  |  FinTechathon 2026, Topic E  |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