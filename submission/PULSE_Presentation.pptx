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 seconds. Open with the gap between financial history and the next obligation. In our synthetic example, cash is positive today but the engine forecasts a negative position in eighteen days. These are real outputs from our demonstration data, not a claim about a real customer or prediction accuracy. PULSE is a financial copilot, not a service that autonomously moves money. We use the term autopilot to describe continuous analytical support while the owner keeps control.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 SMEs may have accounting data without an integrated view of cash timing. Our demonstration has positive trailing net flow and no positive historical burn rate, yet the forecast sees a timing shortfall. The product connects invoices, transactions and recurring obligations so an owner can inspect the underlying reason. We do not claim market adoption, customer savings or forecast accuracy measurements. The problem and design are illustrated by our synthetic, reproducible business case.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 PULSE is a working React and FastAPI application backed by deterministic Python engines. Supabase PostgreSQL is our shared deployment database; this captured demonstration deliberately uses a separate SQLite fixture, so no private business data appears. The dashboard combines current liquidity, upcoming events, risks and candidate interventions. The no-key copilot remains functional because the numbers do not depend on an LLM. This separation is the core product architecture, not a claim that generated language can never make mistakes.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 The Digital Twin copies inputs and runs the same forecast engine for both baseline and alternative. We can test payment delays, an inventory purchase, revenue or expense changes and financing assumptions. The EUR 8,000 purchase in our evidence shifts day-one cash by exactly EUR 8,000. We independently validate that result and check that the original invoice records remain unchanged. Scenarios are stored for comparison, but the financial records they model are not rewritten. Financing examples are illustrative terms, not real lender offers.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 This chart is drawn from the actual forecast JSON, not a fabricated interface. Each day equals the previous balance plus known scheduled flow and an explicitly uncertain historical average. Recurring categories are excluded from that average to avoid one category-level double count. Confidence labels are heuristic and not statistically calibrated probabilities. The cash minimum is negative EUR 2,308, with seven negative-cash days. We also disclose model limitations such as month-end recurrence and possible overlap between invoice collections and average historical revenue.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 We choose a specific intervention and state its assumption: suppliers agree to a fifteen-day extension. The simulated cash minimum rises from negative EUR 2,308 to positive EUR 2,064, an improvement of EUR 4,372. Negative-cash days fall from seven to zero in this case. The engine also ranks collection and illustrative credit strategies. These are conditional outcomes, not guaranteed rescue promises. Importantly, ending-cash impact and minimum-cash improvement are separate metrics: shifting timing can improve the minimum without changing the ending balance.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 These are logical specialist roles in one service, not four independently deployed AI services. The registry exposes financial summary, forecasting, simulation, rescue-plan, invoice and reminder-proposal tools. With an LLM key, a bounded tool loop chooses registered calls. Without a key, the deterministic path still works. The Risk Guardian enforces scope and permissions, but we do not claim a complete semantic verifier of all generated text. There is no RAG implementation or vector database. No tool directly sends money, and proposed reminders still need approval.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120 seconds for the included genuine browser video, or about 60 seconds for the screenshot walkthrough. Show the dashboard, risk alert, copilot, purchase scenario, supplier extension, approval and queued execution. This prototype run uses synthetic data and deterministic copilot mode. It demonstrates an actual blocked execution before approval, human approval through the UI, queued action when no external channel is configured, and a blocked sequential replay. QUEUED must never be described as SENT. The separate n8n integration evidence confirms real SMTP workflows from the local integration session.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 Identity and tenant controls are implemented server-side. A platform administrator reviews account access but does not automatically gain tenant financial access. Action approval and audit history are real. We are also explicit about gaps: browser tokens are in localStorage, audit tables are not tamper-proof, and concurrency-safe execution and external provider idempotency need strengthening. Supabase is the selected shared database, but database-level RLS is not established by these tests. This is a self-assessment, not a certification or penetration-test result.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 Close on the concrete differentiation: the same engine powers insight, forecast, what-if comparison and evidence-based interventions. This reduces the gap between a business question and an inspectable decision. We do not claim a measured reduction in business failures or customer savings. Supabase PostgreSQL is our shared deployment direction; banking integrations, calibrated uncertainty and deeper operational hardening are future work. The competition package contains actual tests, API outputs, source instructions, screenshots and a genuine demonstration video so judges can reproduce the implementation.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789920" cy="331978"/>
          </a:xfrm>
          <a:prstGeom prst="rect">
            <a:avLst/>
          </a:prstGeom>
          <a:noFill/>
        </p:spPr>
        <p:txBody>
          <a:bodyPr wrap="none" lIns="0" rIns="0" tIns="0" bIns="0">
            <a:spAutoFit/>
          </a:bodyPr>
          <a:lstStyle/>
          <a:p>
            <a:pPr>
              <a:lnSpc>
                <a:spcPct val="115000"/>
              </a:lnSpc>
              <a:spcAft>
                <a:spcPts val="0"/>
              </a:spcAft>
              <a:defRPr sz="1400" b="1">
                <a:solidFill>
                  <a:srgbClr val="5DDBEF"/>
                </a:solidFill>
                <a:latin typeface="Segoe UI"/>
              </a:defRPr>
            </a:pPr>
            <a:r>
              <a:t>PULSE AI</a:t>
            </a:r>
          </a:p>
        </p:txBody>
      </p:sp>
      <p:sp>
        <p:nvSpPr>
          <p:cNvPr id="4" name="TextBox 3"/>
          <p:cNvSpPr txBox="1"/>
          <p:nvPr/>
        </p:nvSpPr>
        <p:spPr>
          <a:xfrm>
            <a:off x="8229600" y="320040"/>
            <a:ext cx="347472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FINTECHATHON 2026 / TOPIC E</a:t>
            </a:r>
          </a:p>
        </p:txBody>
      </p:sp>
      <p:cxnSp>
        <p:nvCxnSpPr>
          <p:cNvPr id="5" name="Connector 4"/>
          <p:cNvCxnSpPr/>
          <p:nvPr/>
        </p:nvCxnSpPr>
        <p:spPr>
          <a:xfrm>
            <a:off x="502920" y="6473952"/>
            <a:ext cx="11183112" cy="0"/>
          </a:xfrm>
          <a:prstGeom prst="line">
            <a:avLst/>
          </a:prstGeom>
          <a:ln w="10160">
            <a:solidFill>
              <a:srgbClr val="24375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65392"/>
            <a:ext cx="914400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THE INVISIBLE FINANCIAL CRISIS</a:t>
            </a:r>
          </a:p>
        </p:txBody>
      </p:sp>
      <p:sp>
        <p:nvSpPr>
          <p:cNvPr id="7" name="TextBox 6"/>
          <p:cNvSpPr txBox="1"/>
          <p:nvPr/>
        </p:nvSpPr>
        <p:spPr>
          <a:xfrm>
            <a:off x="11338560" y="6537960"/>
            <a:ext cx="365760" cy="284353"/>
          </a:xfrm>
          <a:prstGeom prst="rect">
            <a:avLst/>
          </a:prstGeom>
          <a:noFill/>
        </p:spPr>
        <p:txBody>
          <a:bodyPr wrap="none" lIns="0" rIns="0" tIns="0" bIns="0">
            <a:spAutoFit/>
          </a:bodyPr>
          <a:lstStyle/>
          <a:p>
            <a:pPr>
              <a:lnSpc>
                <a:spcPct val="115000"/>
              </a:lnSpc>
              <a:spcAft>
                <a:spcPts val="0"/>
              </a:spcAft>
              <a:defRPr sz="1100" b="0">
                <a:solidFill>
                  <a:srgbClr val="5DDBEF"/>
                </a:solidFill>
                <a:latin typeface="Segoe UI"/>
              </a:defRPr>
            </a:pPr>
            <a:r>
              <a:t>01</a:t>
            </a:r>
          </a:p>
        </p:txBody>
      </p:sp>
      <p:sp>
        <p:nvSpPr>
          <p:cNvPr id="8" name="TextBox 7"/>
          <p:cNvSpPr txBox="1"/>
          <p:nvPr/>
        </p:nvSpPr>
        <p:spPr>
          <a:xfrm>
            <a:off x="594360" y="1005840"/>
            <a:ext cx="9052560" cy="712978"/>
          </a:xfrm>
          <a:prstGeom prst="rect">
            <a:avLst/>
          </a:prstGeom>
          <a:noFill/>
        </p:spPr>
        <p:txBody>
          <a:bodyPr wrap="none" lIns="0" rIns="0" tIns="0" bIns="0">
            <a:spAutoFit/>
          </a:bodyPr>
          <a:lstStyle/>
          <a:p>
            <a:pPr>
              <a:lnSpc>
                <a:spcPct val="115000"/>
              </a:lnSpc>
              <a:spcAft>
                <a:spcPts val="0"/>
              </a:spcAft>
              <a:defRPr sz="3800" b="1">
                <a:solidFill>
                  <a:srgbClr val="FFFFFF"/>
                </a:solidFill>
                <a:latin typeface="Segoe UI"/>
              </a:defRPr>
            </a:pPr>
            <a:r>
              <a:t>Your business has a heartbeat.</a:t>
            </a:r>
          </a:p>
        </p:txBody>
      </p:sp>
      <p:sp>
        <p:nvSpPr>
          <p:cNvPr id="9" name="TextBox 8"/>
          <p:cNvSpPr txBox="1"/>
          <p:nvPr/>
        </p:nvSpPr>
        <p:spPr>
          <a:xfrm>
            <a:off x="594360" y="1965960"/>
            <a:ext cx="9601200" cy="1538478"/>
          </a:xfrm>
          <a:prstGeom prst="rect">
            <a:avLst/>
          </a:prstGeom>
          <a:noFill/>
        </p:spPr>
        <p:txBody>
          <a:bodyPr wrap="none" lIns="0" rIns="0" tIns="0" bIns="0">
            <a:spAutoFit/>
          </a:bodyPr>
          <a:lstStyle/>
          <a:p>
            <a:pPr>
              <a:lnSpc>
                <a:spcPct val="115000"/>
              </a:lnSpc>
              <a:spcAft>
                <a:spcPts val="0"/>
              </a:spcAft>
              <a:defRPr sz="4500" b="1">
                <a:solidFill>
                  <a:srgbClr val="5DDBEF"/>
                </a:solidFill>
                <a:latin typeface="Segoe UI"/>
              </a:defRPr>
            </a:pPr>
            <a:r>
              <a:t>See the cash crisis</a:t>
            </a:r>
          </a:p>
          <a:p>
            <a:pPr>
              <a:lnSpc>
                <a:spcPct val="115000"/>
              </a:lnSpc>
              <a:spcAft>
                <a:spcPts val="0"/>
              </a:spcAft>
              <a:defRPr sz="4500" b="1">
                <a:solidFill>
                  <a:srgbClr val="5DDBEF"/>
                </a:solidFill>
                <a:latin typeface="Segoe UI"/>
              </a:defRPr>
            </a:pPr>
            <a:r>
              <a:t>before it arrives.</a:t>
            </a:r>
          </a:p>
        </p:txBody>
      </p:sp>
      <p:sp>
        <p:nvSpPr>
          <p:cNvPr id="10" name="TextBox 9"/>
          <p:cNvSpPr txBox="1"/>
          <p:nvPr/>
        </p:nvSpPr>
        <p:spPr>
          <a:xfrm>
            <a:off x="640080" y="3931920"/>
            <a:ext cx="10789920" cy="538353"/>
          </a:xfrm>
          <a:prstGeom prst="rect">
            <a:avLst/>
          </a:prstGeom>
          <a:noFill/>
        </p:spPr>
        <p:txBody>
          <a:bodyPr wrap="none" lIns="0" rIns="0" tIns="0" bIns="0">
            <a:spAutoFit/>
          </a:bodyPr>
          <a:lstStyle/>
          <a:p>
            <a:pPr>
              <a:lnSpc>
                <a:spcPct val="115000"/>
              </a:lnSpc>
              <a:spcAft>
                <a:spcPts val="0"/>
              </a:spcAft>
              <a:defRPr sz="2700" b="1">
                <a:solidFill>
                  <a:srgbClr val="FFFFFF"/>
                </a:solidFill>
                <a:latin typeface="Segoe UI"/>
              </a:defRPr>
            </a:pPr>
            <a:r>
              <a:t>PULSE AI</a:t>
            </a:r>
          </a:p>
        </p:txBody>
      </p:sp>
      <p:sp>
        <p:nvSpPr>
          <p:cNvPr id="11" name="TextBox 10"/>
          <p:cNvSpPr txBox="1"/>
          <p:nvPr/>
        </p:nvSpPr>
        <p:spPr>
          <a:xfrm>
            <a:off x="640080" y="4480560"/>
            <a:ext cx="6400800" cy="712978"/>
          </a:xfrm>
          <a:prstGeom prst="rect">
            <a:avLst/>
          </a:prstGeom>
          <a:noFill/>
        </p:spPr>
        <p:txBody>
          <a:bodyPr wrap="none" lIns="0" rIns="0" tIns="0" bIns="0">
            <a:spAutoFit/>
          </a:bodyPr>
          <a:lstStyle/>
          <a:p>
            <a:pPr>
              <a:lnSpc>
                <a:spcPct val="115000"/>
              </a:lnSpc>
              <a:spcAft>
                <a:spcPts val="0"/>
              </a:spcAft>
              <a:defRPr sz="1900" b="0">
                <a:solidFill>
                  <a:srgbClr val="9BAFC8"/>
                </a:solidFill>
                <a:latin typeface="Segoe UI"/>
              </a:defRPr>
            </a:pPr>
            <a:r>
              <a:t>The Financial Autopilot for SMEs</a:t>
            </a:r>
          </a:p>
          <a:p>
            <a:pPr>
              <a:lnSpc>
                <a:spcPct val="115000"/>
              </a:lnSpc>
              <a:spcAft>
                <a:spcPts val="0"/>
              </a:spcAft>
              <a:defRPr sz="1900" b="0">
                <a:solidFill>
                  <a:srgbClr val="9BAFC8"/>
                </a:solidFill>
                <a:latin typeface="Segoe UI"/>
              </a:defRPr>
            </a:pPr>
            <a:r>
              <a:t>Decision support. Human control.</a:t>
            </a:r>
          </a:p>
        </p:txBody>
      </p:sp>
      <p:sp>
        <p:nvSpPr>
          <p:cNvPr id="12" name="Rectangle 11"/>
          <p:cNvSpPr/>
          <p:nvPr/>
        </p:nvSpPr>
        <p:spPr>
          <a:xfrm>
            <a:off x="8229600" y="4069080"/>
            <a:ext cx="3154680" cy="1600200"/>
          </a:xfrm>
          <a:prstGeom prst="rect">
            <a:avLst/>
          </a:prstGeom>
          <a:solidFill>
            <a:srgbClr val="10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4279392"/>
            <a:ext cx="2743200" cy="633603"/>
          </a:xfrm>
          <a:prstGeom prst="rect">
            <a:avLst/>
          </a:prstGeom>
          <a:noFill/>
        </p:spPr>
        <p:txBody>
          <a:bodyPr wrap="none" lIns="0" rIns="0" tIns="0" bIns="0">
            <a:spAutoFit/>
          </a:bodyPr>
          <a:lstStyle/>
          <a:p>
            <a:pPr>
              <a:lnSpc>
                <a:spcPct val="115000"/>
              </a:lnSpc>
              <a:spcAft>
                <a:spcPts val="0"/>
              </a:spcAft>
              <a:defRPr sz="3300" b="1">
                <a:solidFill>
                  <a:srgbClr val="52C7AA"/>
                </a:solidFill>
                <a:latin typeface="Segoe UI"/>
              </a:defRPr>
            </a:pPr>
            <a:r>
              <a:t>18 DAYS</a:t>
            </a:r>
          </a:p>
        </p:txBody>
      </p:sp>
      <p:sp>
        <p:nvSpPr>
          <p:cNvPr id="14" name="TextBox 13"/>
          <p:cNvSpPr txBox="1"/>
          <p:nvPr/>
        </p:nvSpPr>
        <p:spPr>
          <a:xfrm>
            <a:off x="8458200" y="4919472"/>
            <a:ext cx="2651760" cy="316103"/>
          </a:xfrm>
          <a:prstGeom prst="rect">
            <a:avLst/>
          </a:prstGeom>
          <a:noFill/>
        </p:spPr>
        <p:txBody>
          <a:bodyPr wrap="none" lIns="0" rIns="0" tIns="0" bIns="0">
            <a:spAutoFit/>
          </a:bodyPr>
          <a:lstStyle/>
          <a:p>
            <a:pPr>
              <a:lnSpc>
                <a:spcPct val="115000"/>
              </a:lnSpc>
              <a:spcAft>
                <a:spcPts val="0"/>
              </a:spcAft>
              <a:defRPr sz="1300" b="0">
                <a:solidFill>
                  <a:srgbClr val="9BAFC8"/>
                </a:solidFill>
                <a:latin typeface="Segoe UI"/>
              </a:defRPr>
            </a:pPr>
            <a:r>
              <a:t>to the demo forecast shortfall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789920" cy="331978"/>
          </a:xfrm>
          <a:prstGeom prst="rect">
            <a:avLst/>
          </a:prstGeom>
          <a:noFill/>
        </p:spPr>
        <p:txBody>
          <a:bodyPr wrap="none" lIns="0" rIns="0" tIns="0" bIns="0">
            <a:spAutoFit/>
          </a:bodyPr>
          <a:lstStyle/>
          <a:p>
            <a:pPr>
              <a:lnSpc>
                <a:spcPct val="115000"/>
              </a:lnSpc>
              <a:spcAft>
                <a:spcPts val="0"/>
              </a:spcAft>
              <a:defRPr sz="1400" b="1">
                <a:solidFill>
                  <a:srgbClr val="5DDBEF"/>
                </a:solidFill>
                <a:latin typeface="Segoe UI"/>
              </a:defRPr>
            </a:pPr>
            <a:r>
              <a:t>PULSE AI</a:t>
            </a:r>
          </a:p>
        </p:txBody>
      </p:sp>
      <p:sp>
        <p:nvSpPr>
          <p:cNvPr id="4" name="TextBox 3"/>
          <p:cNvSpPr txBox="1"/>
          <p:nvPr/>
        </p:nvSpPr>
        <p:spPr>
          <a:xfrm>
            <a:off x="8229600" y="320040"/>
            <a:ext cx="347472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FINTECHATHON 2026 / TOPIC E</a:t>
            </a:r>
          </a:p>
        </p:txBody>
      </p:sp>
      <p:cxnSp>
        <p:nvCxnSpPr>
          <p:cNvPr id="5" name="Connector 4"/>
          <p:cNvCxnSpPr/>
          <p:nvPr/>
        </p:nvCxnSpPr>
        <p:spPr>
          <a:xfrm>
            <a:off x="502920" y="6473952"/>
            <a:ext cx="11183112" cy="0"/>
          </a:xfrm>
          <a:prstGeom prst="line">
            <a:avLst/>
          </a:prstGeom>
          <a:ln w="10160">
            <a:solidFill>
              <a:srgbClr val="24375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65392"/>
            <a:ext cx="914400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WHY SMES STRUGGLE</a:t>
            </a:r>
          </a:p>
        </p:txBody>
      </p:sp>
      <p:sp>
        <p:nvSpPr>
          <p:cNvPr id="7" name="TextBox 6"/>
          <p:cNvSpPr txBox="1"/>
          <p:nvPr/>
        </p:nvSpPr>
        <p:spPr>
          <a:xfrm>
            <a:off x="11338560" y="6537960"/>
            <a:ext cx="365760" cy="284353"/>
          </a:xfrm>
          <a:prstGeom prst="rect">
            <a:avLst/>
          </a:prstGeom>
          <a:noFill/>
        </p:spPr>
        <p:txBody>
          <a:bodyPr wrap="none" lIns="0" rIns="0" tIns="0" bIns="0">
            <a:spAutoFit/>
          </a:bodyPr>
          <a:lstStyle/>
          <a:p>
            <a:pPr>
              <a:lnSpc>
                <a:spcPct val="115000"/>
              </a:lnSpc>
              <a:spcAft>
                <a:spcPts val="0"/>
              </a:spcAft>
              <a:defRPr sz="1100" b="0">
                <a:solidFill>
                  <a:srgbClr val="5DDBEF"/>
                </a:solidFill>
                <a:latin typeface="Segoe UI"/>
              </a:defRPr>
            </a:pPr>
            <a:r>
              <a:t>02</a:t>
            </a:r>
          </a:p>
        </p:txBody>
      </p:sp>
      <p:sp>
        <p:nvSpPr>
          <p:cNvPr id="8" name="TextBox 7"/>
          <p:cNvSpPr txBox="1"/>
          <p:nvPr/>
        </p:nvSpPr>
        <p:spPr>
          <a:xfrm>
            <a:off x="594360" y="960120"/>
            <a:ext cx="10789920" cy="665353"/>
          </a:xfrm>
          <a:prstGeom prst="rect">
            <a:avLst/>
          </a:prstGeom>
          <a:noFill/>
        </p:spPr>
        <p:txBody>
          <a:bodyPr wrap="none" lIns="0" rIns="0" tIns="0" bIns="0">
            <a:spAutoFit/>
          </a:bodyPr>
          <a:lstStyle/>
          <a:p>
            <a:pPr>
              <a:lnSpc>
                <a:spcPct val="115000"/>
              </a:lnSpc>
              <a:spcAft>
                <a:spcPts val="0"/>
              </a:spcAft>
              <a:defRPr sz="3500" b="1">
                <a:solidFill>
                  <a:srgbClr val="FFFFFF"/>
                </a:solidFill>
                <a:latin typeface="Segoe UI"/>
              </a:defRPr>
            </a:pPr>
            <a:r>
              <a:t>Why SMEs Struggle</a:t>
            </a:r>
          </a:p>
        </p:txBody>
      </p:sp>
      <p:sp>
        <p:nvSpPr>
          <p:cNvPr id="9" name="TextBox 8"/>
          <p:cNvSpPr txBox="1"/>
          <p:nvPr/>
        </p:nvSpPr>
        <p:spPr>
          <a:xfrm>
            <a:off x="640080" y="1828800"/>
            <a:ext cx="4754880" cy="1030477"/>
          </a:xfrm>
          <a:prstGeom prst="rect">
            <a:avLst/>
          </a:prstGeom>
          <a:noFill/>
        </p:spPr>
        <p:txBody>
          <a:bodyPr wrap="none" lIns="0" rIns="0" tIns="0" bIns="0">
            <a:spAutoFit/>
          </a:bodyPr>
          <a:lstStyle/>
          <a:p>
            <a:pPr>
              <a:lnSpc>
                <a:spcPct val="115000"/>
              </a:lnSpc>
              <a:spcAft>
                <a:spcPts val="0"/>
              </a:spcAft>
              <a:defRPr sz="2900" b="1">
                <a:solidFill>
                  <a:srgbClr val="5DDBEF"/>
                </a:solidFill>
                <a:latin typeface="Segoe UI"/>
              </a:defRPr>
            </a:pPr>
            <a:r>
              <a:t>Positive history.</a:t>
            </a:r>
          </a:p>
          <a:p>
            <a:pPr>
              <a:lnSpc>
                <a:spcPct val="115000"/>
              </a:lnSpc>
              <a:spcAft>
                <a:spcPts val="0"/>
              </a:spcAft>
              <a:defRPr sz="2900" b="1">
                <a:solidFill>
                  <a:srgbClr val="5DDBEF"/>
                </a:solidFill>
                <a:latin typeface="Segoe UI"/>
              </a:defRPr>
            </a:pPr>
            <a:r>
              <a:t>A negative cash date.</a:t>
            </a:r>
          </a:p>
        </p:txBody>
      </p:sp>
      <p:sp>
        <p:nvSpPr>
          <p:cNvPr id="10" name="TextBox 9"/>
          <p:cNvSpPr txBox="1"/>
          <p:nvPr/>
        </p:nvSpPr>
        <p:spPr>
          <a:xfrm>
            <a:off x="685800" y="3291840"/>
            <a:ext cx="10789920" cy="284353"/>
          </a:xfrm>
          <a:prstGeom prst="rect">
            <a:avLst/>
          </a:prstGeom>
          <a:noFill/>
        </p:spPr>
        <p:txBody>
          <a:bodyPr wrap="none" lIns="0" rIns="0" tIns="0" bIns="0">
            <a:spAutoFit/>
          </a:bodyPr>
          <a:lstStyle/>
          <a:p>
            <a:pPr>
              <a:lnSpc>
                <a:spcPct val="115000"/>
              </a:lnSpc>
              <a:spcAft>
                <a:spcPts val="0"/>
              </a:spcAft>
              <a:defRPr sz="1100" b="1">
                <a:solidFill>
                  <a:srgbClr val="52C7AA"/>
                </a:solidFill>
                <a:latin typeface="Segoe UI"/>
              </a:defRPr>
            </a:pPr>
            <a:r>
              <a:t>REACTIVE</a:t>
            </a:r>
          </a:p>
        </p:txBody>
      </p:sp>
      <p:sp>
        <p:nvSpPr>
          <p:cNvPr id="11" name="TextBox 10"/>
          <p:cNvSpPr txBox="1"/>
          <p:nvPr/>
        </p:nvSpPr>
        <p:spPr>
          <a:xfrm>
            <a:off x="685800" y="3529584"/>
            <a:ext cx="4663440" cy="363728"/>
          </a:xfrm>
          <a:prstGeom prst="rect">
            <a:avLst/>
          </a:prstGeom>
          <a:noFill/>
        </p:spPr>
        <p:txBody>
          <a:bodyPr wrap="none" lIns="0" rIns="0" tIns="0" bIns="0">
            <a:spAutoFit/>
          </a:bodyPr>
          <a:lstStyle/>
          <a:p>
            <a:pPr>
              <a:lnSpc>
                <a:spcPct val="115000"/>
              </a:lnSpc>
              <a:spcAft>
                <a:spcPts val="0"/>
              </a:spcAft>
              <a:defRPr sz="1600" b="0">
                <a:solidFill>
                  <a:srgbClr val="9BAFC8"/>
                </a:solidFill>
                <a:latin typeface="Segoe UI"/>
              </a:defRPr>
            </a:pPr>
            <a:r>
              <a:t>Spreadsheets explain yesterday.</a:t>
            </a:r>
          </a:p>
        </p:txBody>
      </p:sp>
      <p:sp>
        <p:nvSpPr>
          <p:cNvPr id="12" name="TextBox 11"/>
          <p:cNvSpPr txBox="1"/>
          <p:nvPr/>
        </p:nvSpPr>
        <p:spPr>
          <a:xfrm>
            <a:off x="685800" y="4114800"/>
            <a:ext cx="10789920" cy="284353"/>
          </a:xfrm>
          <a:prstGeom prst="rect">
            <a:avLst/>
          </a:prstGeom>
          <a:noFill/>
        </p:spPr>
        <p:txBody>
          <a:bodyPr wrap="none" lIns="0" rIns="0" tIns="0" bIns="0">
            <a:spAutoFit/>
          </a:bodyPr>
          <a:lstStyle/>
          <a:p>
            <a:pPr>
              <a:lnSpc>
                <a:spcPct val="115000"/>
              </a:lnSpc>
              <a:spcAft>
                <a:spcPts val="0"/>
              </a:spcAft>
              <a:defRPr sz="1100" b="1">
                <a:solidFill>
                  <a:srgbClr val="52C7AA"/>
                </a:solidFill>
                <a:latin typeface="Segoe UI"/>
              </a:defRPr>
            </a:pPr>
            <a:r>
              <a:t>FRAGMENTED</a:t>
            </a:r>
          </a:p>
        </p:txBody>
      </p:sp>
      <p:sp>
        <p:nvSpPr>
          <p:cNvPr id="13" name="TextBox 12"/>
          <p:cNvSpPr txBox="1"/>
          <p:nvPr/>
        </p:nvSpPr>
        <p:spPr>
          <a:xfrm>
            <a:off x="685800" y="4352544"/>
            <a:ext cx="4663440" cy="363728"/>
          </a:xfrm>
          <a:prstGeom prst="rect">
            <a:avLst/>
          </a:prstGeom>
          <a:noFill/>
        </p:spPr>
        <p:txBody>
          <a:bodyPr wrap="none" lIns="0" rIns="0" tIns="0" bIns="0">
            <a:spAutoFit/>
          </a:bodyPr>
          <a:lstStyle/>
          <a:p>
            <a:pPr>
              <a:lnSpc>
                <a:spcPct val="115000"/>
              </a:lnSpc>
              <a:spcAft>
                <a:spcPts val="0"/>
              </a:spcAft>
              <a:defRPr sz="1600" b="0">
                <a:solidFill>
                  <a:srgbClr val="9BAFC8"/>
                </a:solidFill>
                <a:latin typeface="Segoe UI"/>
              </a:defRPr>
            </a:pPr>
            <a:r>
              <a:t>One late invoice changes the picture.</a:t>
            </a:r>
          </a:p>
        </p:txBody>
      </p:sp>
      <p:sp>
        <p:nvSpPr>
          <p:cNvPr id="14" name="TextBox 13"/>
          <p:cNvSpPr txBox="1"/>
          <p:nvPr/>
        </p:nvSpPr>
        <p:spPr>
          <a:xfrm>
            <a:off x="685800" y="4937760"/>
            <a:ext cx="10789920" cy="284353"/>
          </a:xfrm>
          <a:prstGeom prst="rect">
            <a:avLst/>
          </a:prstGeom>
          <a:noFill/>
        </p:spPr>
        <p:txBody>
          <a:bodyPr wrap="none" lIns="0" rIns="0" tIns="0" bIns="0">
            <a:spAutoFit/>
          </a:bodyPr>
          <a:lstStyle/>
          <a:p>
            <a:pPr>
              <a:lnSpc>
                <a:spcPct val="115000"/>
              </a:lnSpc>
              <a:spcAft>
                <a:spcPts val="0"/>
              </a:spcAft>
              <a:defRPr sz="1100" b="1">
                <a:solidFill>
                  <a:srgbClr val="52C7AA"/>
                </a:solidFill>
                <a:latin typeface="Segoe UI"/>
              </a:defRPr>
            </a:pPr>
            <a:r>
              <a:t>UNSUPPORTED</a:t>
            </a:r>
          </a:p>
        </p:txBody>
      </p:sp>
      <p:sp>
        <p:nvSpPr>
          <p:cNvPr id="15" name="TextBox 14"/>
          <p:cNvSpPr txBox="1"/>
          <p:nvPr/>
        </p:nvSpPr>
        <p:spPr>
          <a:xfrm>
            <a:off x="685800" y="5175504"/>
            <a:ext cx="4663440" cy="363728"/>
          </a:xfrm>
          <a:prstGeom prst="rect">
            <a:avLst/>
          </a:prstGeom>
          <a:noFill/>
        </p:spPr>
        <p:txBody>
          <a:bodyPr wrap="none" lIns="0" rIns="0" tIns="0" bIns="0">
            <a:spAutoFit/>
          </a:bodyPr>
          <a:lstStyle/>
          <a:p>
            <a:pPr>
              <a:lnSpc>
                <a:spcPct val="115000"/>
              </a:lnSpc>
              <a:spcAft>
                <a:spcPts val="0"/>
              </a:spcAft>
              <a:defRPr sz="1600" b="0">
                <a:solidFill>
                  <a:srgbClr val="9BAFC8"/>
                </a:solidFill>
                <a:latin typeface="Segoe UI"/>
              </a:defRPr>
            </a:pPr>
            <a:r>
              <a:t>Owners need evidence, not guesses.</a:t>
            </a:r>
          </a:p>
        </p:txBody>
      </p:sp>
      <p:pic>
        <p:nvPicPr>
          <p:cNvPr id="16" name="Picture 15" descr="06_liquidity_risk_alert.png"/>
          <p:cNvPicPr>
            <a:picLocks noChangeAspect="1"/>
          </p:cNvPicPr>
          <p:nvPr/>
        </p:nvPicPr>
        <p:blipFill>
          <a:blip r:embed="rId2"/>
          <a:stretch>
            <a:fillRect/>
          </a:stretch>
        </p:blipFill>
        <p:spPr>
          <a:xfrm>
            <a:off x="5669280" y="1828800"/>
            <a:ext cx="5943600" cy="371475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789920" cy="331978"/>
          </a:xfrm>
          <a:prstGeom prst="rect">
            <a:avLst/>
          </a:prstGeom>
          <a:noFill/>
        </p:spPr>
        <p:txBody>
          <a:bodyPr wrap="none" lIns="0" rIns="0" tIns="0" bIns="0">
            <a:spAutoFit/>
          </a:bodyPr>
          <a:lstStyle/>
          <a:p>
            <a:pPr>
              <a:lnSpc>
                <a:spcPct val="115000"/>
              </a:lnSpc>
              <a:spcAft>
                <a:spcPts val="0"/>
              </a:spcAft>
              <a:defRPr sz="1400" b="1">
                <a:solidFill>
                  <a:srgbClr val="5DDBEF"/>
                </a:solidFill>
                <a:latin typeface="Segoe UI"/>
              </a:defRPr>
            </a:pPr>
            <a:r>
              <a:t>PULSE AI</a:t>
            </a:r>
          </a:p>
        </p:txBody>
      </p:sp>
      <p:sp>
        <p:nvSpPr>
          <p:cNvPr id="4" name="TextBox 3"/>
          <p:cNvSpPr txBox="1"/>
          <p:nvPr/>
        </p:nvSpPr>
        <p:spPr>
          <a:xfrm>
            <a:off x="8229600" y="320040"/>
            <a:ext cx="347472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FINTECHATHON 2026 / TOPIC E</a:t>
            </a:r>
          </a:p>
        </p:txBody>
      </p:sp>
      <p:cxnSp>
        <p:nvCxnSpPr>
          <p:cNvPr id="5" name="Connector 4"/>
          <p:cNvCxnSpPr/>
          <p:nvPr/>
        </p:nvCxnSpPr>
        <p:spPr>
          <a:xfrm>
            <a:off x="502920" y="6473952"/>
            <a:ext cx="11183112" cy="0"/>
          </a:xfrm>
          <a:prstGeom prst="line">
            <a:avLst/>
          </a:prstGeom>
          <a:ln w="10160">
            <a:solidFill>
              <a:srgbClr val="24375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65392"/>
            <a:ext cx="914400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INTRODUCING PULSE AI</a:t>
            </a:r>
          </a:p>
        </p:txBody>
      </p:sp>
      <p:sp>
        <p:nvSpPr>
          <p:cNvPr id="7" name="TextBox 6"/>
          <p:cNvSpPr txBox="1"/>
          <p:nvPr/>
        </p:nvSpPr>
        <p:spPr>
          <a:xfrm>
            <a:off x="11338560" y="6537960"/>
            <a:ext cx="365760" cy="284353"/>
          </a:xfrm>
          <a:prstGeom prst="rect">
            <a:avLst/>
          </a:prstGeom>
          <a:noFill/>
        </p:spPr>
        <p:txBody>
          <a:bodyPr wrap="none" lIns="0" rIns="0" tIns="0" bIns="0">
            <a:spAutoFit/>
          </a:bodyPr>
          <a:lstStyle/>
          <a:p>
            <a:pPr>
              <a:lnSpc>
                <a:spcPct val="115000"/>
              </a:lnSpc>
              <a:spcAft>
                <a:spcPts val="0"/>
              </a:spcAft>
              <a:defRPr sz="1100" b="0">
                <a:solidFill>
                  <a:srgbClr val="5DDBEF"/>
                </a:solidFill>
                <a:latin typeface="Segoe UI"/>
              </a:defRPr>
            </a:pPr>
            <a:r>
              <a:t>03</a:t>
            </a:r>
          </a:p>
        </p:txBody>
      </p:sp>
      <p:sp>
        <p:nvSpPr>
          <p:cNvPr id="8" name="TextBox 7"/>
          <p:cNvSpPr txBox="1"/>
          <p:nvPr/>
        </p:nvSpPr>
        <p:spPr>
          <a:xfrm>
            <a:off x="594360" y="960120"/>
            <a:ext cx="10789920" cy="665353"/>
          </a:xfrm>
          <a:prstGeom prst="rect">
            <a:avLst/>
          </a:prstGeom>
          <a:noFill/>
        </p:spPr>
        <p:txBody>
          <a:bodyPr wrap="none" lIns="0" rIns="0" tIns="0" bIns="0">
            <a:spAutoFit/>
          </a:bodyPr>
          <a:lstStyle/>
          <a:p>
            <a:pPr>
              <a:lnSpc>
                <a:spcPct val="115000"/>
              </a:lnSpc>
              <a:spcAft>
                <a:spcPts val="0"/>
              </a:spcAft>
              <a:defRPr sz="3500" b="1">
                <a:solidFill>
                  <a:srgbClr val="FFFFFF"/>
                </a:solidFill>
                <a:latin typeface="Segoe UI"/>
              </a:defRPr>
            </a:pPr>
            <a:r>
              <a:t>Introducing PULSE AI</a:t>
            </a:r>
          </a:p>
        </p:txBody>
      </p:sp>
      <p:sp>
        <p:nvSpPr>
          <p:cNvPr id="9" name="TextBox 8"/>
          <p:cNvSpPr txBox="1"/>
          <p:nvPr/>
        </p:nvSpPr>
        <p:spPr>
          <a:xfrm>
            <a:off x="640080" y="1828800"/>
            <a:ext cx="3931920" cy="2078228"/>
          </a:xfrm>
          <a:prstGeom prst="rect">
            <a:avLst/>
          </a:prstGeom>
          <a:noFill/>
        </p:spPr>
        <p:txBody>
          <a:bodyPr wrap="none" lIns="0" rIns="0" tIns="0" bIns="0">
            <a:spAutoFit/>
          </a:bodyPr>
          <a:lstStyle/>
          <a:p>
            <a:pPr>
              <a:lnSpc>
                <a:spcPct val="115000"/>
              </a:lnSpc>
              <a:spcAft>
                <a:spcPts val="0"/>
              </a:spcAft>
              <a:defRPr sz="3100" b="1">
                <a:solidFill>
                  <a:srgbClr val="5DDBEF"/>
                </a:solidFill>
                <a:latin typeface="Segoe UI"/>
              </a:defRPr>
            </a:pPr>
            <a:r>
              <a:t>Understand.</a:t>
            </a:r>
          </a:p>
          <a:p>
            <a:pPr>
              <a:lnSpc>
                <a:spcPct val="115000"/>
              </a:lnSpc>
              <a:spcAft>
                <a:spcPts val="0"/>
              </a:spcAft>
              <a:defRPr sz="3100" b="1">
                <a:solidFill>
                  <a:srgbClr val="5DDBEF"/>
                </a:solidFill>
                <a:latin typeface="Segoe UI"/>
              </a:defRPr>
            </a:pPr>
            <a:r>
              <a:t>Anticipate.</a:t>
            </a:r>
          </a:p>
          <a:p>
            <a:pPr>
              <a:lnSpc>
                <a:spcPct val="115000"/>
              </a:lnSpc>
              <a:spcAft>
                <a:spcPts val="0"/>
              </a:spcAft>
              <a:defRPr sz="3100" b="1">
                <a:solidFill>
                  <a:srgbClr val="5DDBEF"/>
                </a:solidFill>
                <a:latin typeface="Segoe UI"/>
              </a:defRPr>
            </a:pPr>
            <a:r>
              <a:t>Simulate.</a:t>
            </a:r>
          </a:p>
          <a:p>
            <a:pPr>
              <a:lnSpc>
                <a:spcPct val="115000"/>
              </a:lnSpc>
              <a:spcAft>
                <a:spcPts val="0"/>
              </a:spcAft>
              <a:defRPr sz="3100" b="1">
                <a:solidFill>
                  <a:srgbClr val="5DDBEF"/>
                </a:solidFill>
                <a:latin typeface="Segoe UI"/>
              </a:defRPr>
            </a:pPr>
            <a:r>
              <a:t>Decide.</a:t>
            </a:r>
          </a:p>
        </p:txBody>
      </p:sp>
      <p:sp>
        <p:nvSpPr>
          <p:cNvPr id="10" name="TextBox 9"/>
          <p:cNvSpPr txBox="1"/>
          <p:nvPr/>
        </p:nvSpPr>
        <p:spPr>
          <a:xfrm>
            <a:off x="640080" y="4846320"/>
            <a:ext cx="4114800" cy="617728"/>
          </a:xfrm>
          <a:prstGeom prst="rect">
            <a:avLst/>
          </a:prstGeom>
          <a:noFill/>
        </p:spPr>
        <p:txBody>
          <a:bodyPr wrap="none" lIns="0" rIns="0" tIns="0" bIns="0">
            <a:spAutoFit/>
          </a:bodyPr>
          <a:lstStyle/>
          <a:p>
            <a:pPr>
              <a:lnSpc>
                <a:spcPct val="115000"/>
              </a:lnSpc>
              <a:spcAft>
                <a:spcPts val="0"/>
              </a:spcAft>
              <a:defRPr sz="1600" b="0">
                <a:solidFill>
                  <a:srgbClr val="9BAFC8"/>
                </a:solidFill>
                <a:latin typeface="Segoe UI"/>
              </a:defRPr>
            </a:pPr>
            <a:r>
              <a:t>Real calculations first.</a:t>
            </a:r>
          </a:p>
          <a:p>
            <a:pPr>
              <a:lnSpc>
                <a:spcPct val="115000"/>
              </a:lnSpc>
              <a:spcAft>
                <a:spcPts val="0"/>
              </a:spcAft>
              <a:defRPr sz="1600" b="0">
                <a:solidFill>
                  <a:srgbClr val="9BAFC8"/>
                </a:solidFill>
                <a:latin typeface="Segoe UI"/>
              </a:defRPr>
            </a:pPr>
            <a:r>
              <a:t>Language generation is optional.</a:t>
            </a:r>
          </a:p>
        </p:txBody>
      </p:sp>
      <p:pic>
        <p:nvPicPr>
          <p:cNvPr id="11" name="Picture 10" descr="04_financial_dashboard.png"/>
          <p:cNvPicPr>
            <a:picLocks noChangeAspect="1"/>
          </p:cNvPicPr>
          <p:nvPr/>
        </p:nvPicPr>
        <p:blipFill>
          <a:blip r:embed="rId2"/>
          <a:stretch>
            <a:fillRect/>
          </a:stretch>
        </p:blipFill>
        <p:spPr>
          <a:xfrm>
            <a:off x="4663440" y="1828800"/>
            <a:ext cx="6995160" cy="437197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789920" cy="331978"/>
          </a:xfrm>
          <a:prstGeom prst="rect">
            <a:avLst/>
          </a:prstGeom>
          <a:noFill/>
        </p:spPr>
        <p:txBody>
          <a:bodyPr wrap="none" lIns="0" rIns="0" tIns="0" bIns="0">
            <a:spAutoFit/>
          </a:bodyPr>
          <a:lstStyle/>
          <a:p>
            <a:pPr>
              <a:lnSpc>
                <a:spcPct val="115000"/>
              </a:lnSpc>
              <a:spcAft>
                <a:spcPts val="0"/>
              </a:spcAft>
              <a:defRPr sz="1400" b="1">
                <a:solidFill>
                  <a:srgbClr val="5DDBEF"/>
                </a:solidFill>
                <a:latin typeface="Segoe UI"/>
              </a:defRPr>
            </a:pPr>
            <a:r>
              <a:t>PULSE AI</a:t>
            </a:r>
          </a:p>
        </p:txBody>
      </p:sp>
      <p:sp>
        <p:nvSpPr>
          <p:cNvPr id="4" name="TextBox 3"/>
          <p:cNvSpPr txBox="1"/>
          <p:nvPr/>
        </p:nvSpPr>
        <p:spPr>
          <a:xfrm>
            <a:off x="8229600" y="320040"/>
            <a:ext cx="347472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FINTECHATHON 2026 / TOPIC E</a:t>
            </a:r>
          </a:p>
        </p:txBody>
      </p:sp>
      <p:cxnSp>
        <p:nvCxnSpPr>
          <p:cNvPr id="5" name="Connector 4"/>
          <p:cNvCxnSpPr/>
          <p:nvPr/>
        </p:nvCxnSpPr>
        <p:spPr>
          <a:xfrm>
            <a:off x="502920" y="6473952"/>
            <a:ext cx="11183112" cy="0"/>
          </a:xfrm>
          <a:prstGeom prst="line">
            <a:avLst/>
          </a:prstGeom>
          <a:ln w="10160">
            <a:solidFill>
              <a:srgbClr val="24375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65392"/>
            <a:ext cx="914400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THE FINANCIAL DIGITAL TWIN</a:t>
            </a:r>
          </a:p>
        </p:txBody>
      </p:sp>
      <p:sp>
        <p:nvSpPr>
          <p:cNvPr id="7" name="TextBox 6"/>
          <p:cNvSpPr txBox="1"/>
          <p:nvPr/>
        </p:nvSpPr>
        <p:spPr>
          <a:xfrm>
            <a:off x="11338560" y="6537960"/>
            <a:ext cx="365760" cy="284353"/>
          </a:xfrm>
          <a:prstGeom prst="rect">
            <a:avLst/>
          </a:prstGeom>
          <a:noFill/>
        </p:spPr>
        <p:txBody>
          <a:bodyPr wrap="none" lIns="0" rIns="0" tIns="0" bIns="0">
            <a:spAutoFit/>
          </a:bodyPr>
          <a:lstStyle/>
          <a:p>
            <a:pPr>
              <a:lnSpc>
                <a:spcPct val="115000"/>
              </a:lnSpc>
              <a:spcAft>
                <a:spcPts val="0"/>
              </a:spcAft>
              <a:defRPr sz="1100" b="0">
                <a:solidFill>
                  <a:srgbClr val="5DDBEF"/>
                </a:solidFill>
                <a:latin typeface="Segoe UI"/>
              </a:defRPr>
            </a:pPr>
            <a:r>
              <a:t>04</a:t>
            </a:r>
          </a:p>
        </p:txBody>
      </p:sp>
      <p:sp>
        <p:nvSpPr>
          <p:cNvPr id="8" name="TextBox 7"/>
          <p:cNvSpPr txBox="1"/>
          <p:nvPr/>
        </p:nvSpPr>
        <p:spPr>
          <a:xfrm>
            <a:off x="594360" y="960120"/>
            <a:ext cx="10789920" cy="665353"/>
          </a:xfrm>
          <a:prstGeom prst="rect">
            <a:avLst/>
          </a:prstGeom>
          <a:noFill/>
        </p:spPr>
        <p:txBody>
          <a:bodyPr wrap="none" lIns="0" rIns="0" tIns="0" bIns="0">
            <a:spAutoFit/>
          </a:bodyPr>
          <a:lstStyle/>
          <a:p>
            <a:pPr>
              <a:lnSpc>
                <a:spcPct val="115000"/>
              </a:lnSpc>
              <a:spcAft>
                <a:spcPts val="0"/>
              </a:spcAft>
              <a:defRPr sz="3500" b="1">
                <a:solidFill>
                  <a:srgbClr val="FFFFFF"/>
                </a:solidFill>
                <a:latin typeface="Segoe UI"/>
              </a:defRPr>
            </a:pPr>
            <a:r>
              <a:t>The Financial Digital Twin</a:t>
            </a:r>
          </a:p>
        </p:txBody>
      </p:sp>
      <p:sp>
        <p:nvSpPr>
          <p:cNvPr id="9" name="TextBox 8"/>
          <p:cNvSpPr txBox="1"/>
          <p:nvPr/>
        </p:nvSpPr>
        <p:spPr>
          <a:xfrm>
            <a:off x="640080" y="1828800"/>
            <a:ext cx="3749039" cy="1490853"/>
          </a:xfrm>
          <a:prstGeom prst="rect">
            <a:avLst/>
          </a:prstGeom>
          <a:noFill/>
        </p:spPr>
        <p:txBody>
          <a:bodyPr wrap="none" lIns="0" rIns="0" tIns="0" bIns="0">
            <a:spAutoFit/>
          </a:bodyPr>
          <a:lstStyle/>
          <a:p>
            <a:pPr>
              <a:lnSpc>
                <a:spcPct val="115000"/>
              </a:lnSpc>
              <a:spcAft>
                <a:spcPts val="0"/>
              </a:spcAft>
              <a:defRPr sz="2900" b="1">
                <a:solidFill>
                  <a:srgbClr val="5DDBEF"/>
                </a:solidFill>
                <a:latin typeface="Segoe UI"/>
              </a:defRPr>
            </a:pPr>
            <a:r>
              <a:t>One business.</a:t>
            </a:r>
          </a:p>
          <a:p>
            <a:pPr>
              <a:lnSpc>
                <a:spcPct val="115000"/>
              </a:lnSpc>
              <a:spcAft>
                <a:spcPts val="0"/>
              </a:spcAft>
              <a:defRPr sz="2900" b="1">
                <a:solidFill>
                  <a:srgbClr val="5DDBEF"/>
                </a:solidFill>
                <a:latin typeface="Segoe UI"/>
              </a:defRPr>
            </a:pPr>
            <a:r>
              <a:t>More possible</a:t>
            </a:r>
          </a:p>
          <a:p>
            <a:pPr>
              <a:lnSpc>
                <a:spcPct val="115000"/>
              </a:lnSpc>
              <a:spcAft>
                <a:spcPts val="0"/>
              </a:spcAft>
              <a:defRPr sz="2900" b="1">
                <a:solidFill>
                  <a:srgbClr val="5DDBEF"/>
                </a:solidFill>
                <a:latin typeface="Segoe UI"/>
              </a:defRPr>
            </a:pPr>
            <a:r>
              <a:t>futures.</a:t>
            </a:r>
          </a:p>
        </p:txBody>
      </p:sp>
      <p:sp>
        <p:nvSpPr>
          <p:cNvPr id="10" name="TextBox 9"/>
          <p:cNvSpPr txBox="1"/>
          <p:nvPr/>
        </p:nvSpPr>
        <p:spPr>
          <a:xfrm>
            <a:off x="640080" y="3337560"/>
            <a:ext cx="3749039" cy="1189228"/>
          </a:xfrm>
          <a:prstGeom prst="rect">
            <a:avLst/>
          </a:prstGeom>
          <a:noFill/>
        </p:spPr>
        <p:txBody>
          <a:bodyPr wrap="none" lIns="0" rIns="0" tIns="0" bIns="0">
            <a:spAutoFit/>
          </a:bodyPr>
          <a:lstStyle/>
          <a:p>
            <a:pPr>
              <a:lnSpc>
                <a:spcPct val="115000"/>
              </a:lnSpc>
              <a:spcAft>
                <a:spcPts val="0"/>
              </a:spcAft>
              <a:defRPr sz="1700" b="0">
                <a:solidFill>
                  <a:srgbClr val="9BAFC8"/>
                </a:solidFill>
                <a:latin typeface="Segoe UI"/>
              </a:defRPr>
            </a:pPr>
            <a:r>
              <a:t>Payment timing</a:t>
            </a:r>
          </a:p>
          <a:p>
            <a:pPr>
              <a:lnSpc>
                <a:spcPct val="115000"/>
              </a:lnSpc>
              <a:spcAft>
                <a:spcPts val="0"/>
              </a:spcAft>
              <a:defRPr sz="1700" b="0">
                <a:solidFill>
                  <a:srgbClr val="9BAFC8"/>
                </a:solidFill>
                <a:latin typeface="Segoe UI"/>
              </a:defRPr>
            </a:pPr>
            <a:r>
              <a:t>Inventory purchases</a:t>
            </a:r>
          </a:p>
          <a:p>
            <a:pPr>
              <a:lnSpc>
                <a:spcPct val="115000"/>
              </a:lnSpc>
              <a:spcAft>
                <a:spcPts val="0"/>
              </a:spcAft>
              <a:defRPr sz="1700" b="0">
                <a:solidFill>
                  <a:srgbClr val="9BAFC8"/>
                </a:solidFill>
                <a:latin typeface="Segoe UI"/>
              </a:defRPr>
            </a:pPr>
            <a:r>
              <a:t>Revenue and expense shocks</a:t>
            </a:r>
          </a:p>
          <a:p>
            <a:pPr>
              <a:lnSpc>
                <a:spcPct val="115000"/>
              </a:lnSpc>
              <a:spcAft>
                <a:spcPts val="0"/>
              </a:spcAft>
              <a:defRPr sz="1700" b="0">
                <a:solidFill>
                  <a:srgbClr val="9BAFC8"/>
                </a:solidFill>
                <a:latin typeface="Segoe UI"/>
              </a:defRPr>
            </a:pPr>
            <a:r>
              <a:t>Financing assumptions</a:t>
            </a:r>
          </a:p>
        </p:txBody>
      </p:sp>
      <p:sp>
        <p:nvSpPr>
          <p:cNvPr id="11" name="TextBox 10"/>
          <p:cNvSpPr txBox="1"/>
          <p:nvPr/>
        </p:nvSpPr>
        <p:spPr>
          <a:xfrm>
            <a:off x="640080" y="5257800"/>
            <a:ext cx="3931920" cy="316103"/>
          </a:xfrm>
          <a:prstGeom prst="rect">
            <a:avLst/>
          </a:prstGeom>
          <a:noFill/>
        </p:spPr>
        <p:txBody>
          <a:bodyPr wrap="none" lIns="0" rIns="0" tIns="0" bIns="0">
            <a:spAutoFit/>
          </a:bodyPr>
          <a:lstStyle/>
          <a:p>
            <a:pPr>
              <a:lnSpc>
                <a:spcPct val="115000"/>
              </a:lnSpc>
              <a:spcAft>
                <a:spcPts val="0"/>
              </a:spcAft>
              <a:defRPr sz="1300" b="0">
                <a:solidFill>
                  <a:srgbClr val="52C7AA"/>
                </a:solidFill>
                <a:latin typeface="Segoe UI"/>
              </a:defRPr>
            </a:pPr>
            <a:r>
              <a:t>Original financial records stay intact.</a:t>
            </a:r>
          </a:p>
        </p:txBody>
      </p:sp>
      <p:pic>
        <p:nvPicPr>
          <p:cNvPr id="12" name="Picture 11" descr="08_digital_twin_simulator.png"/>
          <p:cNvPicPr>
            <a:picLocks noChangeAspect="1"/>
          </p:cNvPicPr>
          <p:nvPr/>
        </p:nvPicPr>
        <p:blipFill>
          <a:blip r:embed="rId2"/>
          <a:stretch>
            <a:fillRect/>
          </a:stretch>
        </p:blipFill>
        <p:spPr>
          <a:xfrm>
            <a:off x="4663440" y="1828800"/>
            <a:ext cx="6995160" cy="437197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789920" cy="331978"/>
          </a:xfrm>
          <a:prstGeom prst="rect">
            <a:avLst/>
          </a:prstGeom>
          <a:noFill/>
        </p:spPr>
        <p:txBody>
          <a:bodyPr wrap="none" lIns="0" rIns="0" tIns="0" bIns="0">
            <a:spAutoFit/>
          </a:bodyPr>
          <a:lstStyle/>
          <a:p>
            <a:pPr>
              <a:lnSpc>
                <a:spcPct val="115000"/>
              </a:lnSpc>
              <a:spcAft>
                <a:spcPts val="0"/>
              </a:spcAft>
              <a:defRPr sz="1400" b="1">
                <a:solidFill>
                  <a:srgbClr val="5DDBEF"/>
                </a:solidFill>
                <a:latin typeface="Segoe UI"/>
              </a:defRPr>
            </a:pPr>
            <a:r>
              <a:t>PULSE AI</a:t>
            </a:r>
          </a:p>
        </p:txBody>
      </p:sp>
      <p:sp>
        <p:nvSpPr>
          <p:cNvPr id="4" name="TextBox 3"/>
          <p:cNvSpPr txBox="1"/>
          <p:nvPr/>
        </p:nvSpPr>
        <p:spPr>
          <a:xfrm>
            <a:off x="8229600" y="320040"/>
            <a:ext cx="347472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FINTECHATHON 2026 / TOPIC E</a:t>
            </a:r>
          </a:p>
        </p:txBody>
      </p:sp>
      <p:cxnSp>
        <p:nvCxnSpPr>
          <p:cNvPr id="5" name="Connector 4"/>
          <p:cNvCxnSpPr/>
          <p:nvPr/>
        </p:nvCxnSpPr>
        <p:spPr>
          <a:xfrm>
            <a:off x="502920" y="6473952"/>
            <a:ext cx="11183112" cy="0"/>
          </a:xfrm>
          <a:prstGeom prst="line">
            <a:avLst/>
          </a:prstGeom>
          <a:ln w="10160">
            <a:solidFill>
              <a:srgbClr val="24375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65392"/>
            <a:ext cx="914400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PREDICTING FINANCIAL RISK</a:t>
            </a:r>
          </a:p>
        </p:txBody>
      </p:sp>
      <p:sp>
        <p:nvSpPr>
          <p:cNvPr id="7" name="TextBox 6"/>
          <p:cNvSpPr txBox="1"/>
          <p:nvPr/>
        </p:nvSpPr>
        <p:spPr>
          <a:xfrm>
            <a:off x="11338560" y="6537960"/>
            <a:ext cx="365760" cy="284353"/>
          </a:xfrm>
          <a:prstGeom prst="rect">
            <a:avLst/>
          </a:prstGeom>
          <a:noFill/>
        </p:spPr>
        <p:txBody>
          <a:bodyPr wrap="none" lIns="0" rIns="0" tIns="0" bIns="0">
            <a:spAutoFit/>
          </a:bodyPr>
          <a:lstStyle/>
          <a:p>
            <a:pPr>
              <a:lnSpc>
                <a:spcPct val="115000"/>
              </a:lnSpc>
              <a:spcAft>
                <a:spcPts val="0"/>
              </a:spcAft>
              <a:defRPr sz="1100" b="0">
                <a:solidFill>
                  <a:srgbClr val="5DDBEF"/>
                </a:solidFill>
                <a:latin typeface="Segoe UI"/>
              </a:defRPr>
            </a:pPr>
            <a:r>
              <a:t>05</a:t>
            </a:r>
          </a:p>
        </p:txBody>
      </p:sp>
      <p:sp>
        <p:nvSpPr>
          <p:cNvPr id="8" name="TextBox 7"/>
          <p:cNvSpPr txBox="1"/>
          <p:nvPr/>
        </p:nvSpPr>
        <p:spPr>
          <a:xfrm>
            <a:off x="594360" y="960120"/>
            <a:ext cx="10789920" cy="665353"/>
          </a:xfrm>
          <a:prstGeom prst="rect">
            <a:avLst/>
          </a:prstGeom>
          <a:noFill/>
        </p:spPr>
        <p:txBody>
          <a:bodyPr wrap="none" lIns="0" rIns="0" tIns="0" bIns="0">
            <a:spAutoFit/>
          </a:bodyPr>
          <a:lstStyle/>
          <a:p>
            <a:pPr>
              <a:lnSpc>
                <a:spcPct val="115000"/>
              </a:lnSpc>
              <a:spcAft>
                <a:spcPts val="0"/>
              </a:spcAft>
              <a:defRPr sz="3500" b="1">
                <a:solidFill>
                  <a:srgbClr val="FFFFFF"/>
                </a:solidFill>
                <a:latin typeface="Segoe UI"/>
              </a:defRPr>
            </a:pPr>
            <a:r>
              <a:t>Predicting Financial Risk</a:t>
            </a:r>
          </a:p>
        </p:txBody>
      </p:sp>
      <p:sp>
        <p:nvSpPr>
          <p:cNvPr id="9" name="TextBox 8"/>
          <p:cNvSpPr txBox="1"/>
          <p:nvPr/>
        </p:nvSpPr>
        <p:spPr>
          <a:xfrm>
            <a:off x="640080" y="1737360"/>
            <a:ext cx="10789920" cy="427228"/>
          </a:xfrm>
          <a:prstGeom prst="rect">
            <a:avLst/>
          </a:prstGeom>
          <a:noFill/>
        </p:spPr>
        <p:txBody>
          <a:bodyPr wrap="none" lIns="0" rIns="0" tIns="0" bIns="0">
            <a:spAutoFit/>
          </a:bodyPr>
          <a:lstStyle/>
          <a:p>
            <a:pPr>
              <a:lnSpc>
                <a:spcPct val="115000"/>
              </a:lnSpc>
              <a:spcAft>
                <a:spcPts val="0"/>
              </a:spcAft>
              <a:defRPr sz="2000" b="0">
                <a:solidFill>
                  <a:srgbClr val="9BAFC8"/>
                </a:solidFill>
                <a:latin typeface="Segoe UI"/>
              </a:defRPr>
            </a:pPr>
            <a:r>
              <a:t>Known commitments + uncertain daily flow</a:t>
            </a:r>
          </a:p>
        </p:txBody>
      </p:sp>
      <p:cxnSp>
        <p:nvCxnSpPr>
          <p:cNvPr id="10" name="Connector 9"/>
          <p:cNvCxnSpPr/>
          <p:nvPr/>
        </p:nvCxnSpPr>
        <p:spPr>
          <a:xfrm flipV="1">
            <a:off x="731520" y="3941280"/>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821932" y="3891805"/>
            <a:ext cx="90413" cy="49475"/>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912345" y="3842331"/>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2757" y="3842331"/>
            <a:ext cx="90413" cy="21160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093170" y="4004460"/>
            <a:ext cx="90412" cy="49475"/>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183582" y="3954986"/>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273995" y="3566111"/>
            <a:ext cx="90413" cy="388875"/>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364408" y="3516637"/>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54820" y="3516637"/>
            <a:ext cx="90413" cy="994836"/>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545233" y="4461999"/>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635645" y="4461999"/>
            <a:ext cx="90413" cy="107172"/>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726058" y="4519697"/>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816471" y="4470223"/>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906883" y="4107455"/>
            <a:ext cx="90413" cy="362768"/>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997296" y="4057981"/>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087708" y="4008507"/>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178121" y="4008507"/>
            <a:ext cx="90412" cy="119064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268533" y="5149677"/>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358946" y="5100203"/>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449359" y="5050729"/>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539771" y="5001255"/>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630184" y="4951780"/>
            <a:ext cx="90412" cy="49475"/>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720596" y="4902306"/>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811009" y="4852832"/>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901422" y="4803358"/>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991834" y="4753884"/>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082247" y="4704409"/>
            <a:ext cx="90412" cy="49475"/>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172659" y="4654935"/>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263072" y="4605461"/>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353484" y="4555987"/>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443897" y="4555987"/>
            <a:ext cx="90413" cy="9268"/>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534310" y="4515781"/>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624722" y="4466307"/>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715135" y="4416832"/>
            <a:ext cx="90412" cy="49475"/>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805547" y="4416832"/>
            <a:ext cx="90413" cy="21160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895960" y="4578962"/>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986373" y="4529487"/>
            <a:ext cx="90412" cy="49475"/>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076785" y="4480013"/>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167198" y="3255690"/>
            <a:ext cx="90412" cy="1224323"/>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257610" y="3255690"/>
            <a:ext cx="90413" cy="994836"/>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348023" y="4201052"/>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438435" y="4151578"/>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528848" y="4102103"/>
            <a:ext cx="90413" cy="49475"/>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619261" y="4052629"/>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709673" y="4003155"/>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800086" y="3953681"/>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890498" y="3904207"/>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980911" y="3854732"/>
            <a:ext cx="90413" cy="49475"/>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071324" y="3805258"/>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161736" y="3755784"/>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252149" y="3706310"/>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342561" y="3656836"/>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432974" y="3607361"/>
            <a:ext cx="90412" cy="49475"/>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523386" y="3557887"/>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613799" y="3508413"/>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704212" y="3458939"/>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794624" y="3409465"/>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5885037" y="3359990"/>
            <a:ext cx="90412" cy="49475"/>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975449" y="3310516"/>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6065862" y="3261042"/>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156275" y="3261042"/>
            <a:ext cx="90412" cy="9268"/>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6246687" y="3220836"/>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6337100" y="3171362"/>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6427512" y="3121888"/>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517925" y="3121888"/>
            <a:ext cx="90412" cy="211603"/>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6608337" y="3284017"/>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6698750" y="3234543"/>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6789163" y="3185068"/>
            <a:ext cx="90412" cy="49475"/>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6879575" y="3135594"/>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6969988" y="3135594"/>
            <a:ext cx="90412" cy="994836"/>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7060400" y="4080956"/>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7150813" y="4031482"/>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7241226" y="3982008"/>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7331638" y="3932534"/>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7422051" y="3883059"/>
            <a:ext cx="90412" cy="49475"/>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7512463" y="3833585"/>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7602876" y="3784111"/>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7693288" y="3734637"/>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7783701" y="3685163"/>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7874114" y="3635688"/>
            <a:ext cx="90412" cy="49475"/>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7964526" y="3586214"/>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8054939" y="3536740"/>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8145351" y="3487266"/>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8235764" y="3437792"/>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8326177" y="3388317"/>
            <a:ext cx="90412" cy="49475"/>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8416589" y="3338843"/>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8507002" y="3289369"/>
            <a:ext cx="90412"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8597414" y="3239895"/>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8687827" y="3190421"/>
            <a:ext cx="90413" cy="49474"/>
          </a:xfrm>
          <a:prstGeom prst="line">
            <a:avLst/>
          </a:prstGeom>
          <a:ln w="25400">
            <a:solidFill>
              <a:srgbClr val="5DDBEF"/>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731520" y="4897868"/>
            <a:ext cx="8046720" cy="0"/>
          </a:xfrm>
          <a:prstGeom prst="line">
            <a:avLst/>
          </a:prstGeom>
          <a:ln w="12700">
            <a:solidFill>
              <a:srgbClr val="52627A"/>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731520" y="5577840"/>
            <a:ext cx="10789920" cy="284353"/>
          </a:xfrm>
          <a:prstGeom prst="rect">
            <a:avLst/>
          </a:prstGeom>
          <a:noFill/>
        </p:spPr>
        <p:txBody>
          <a:bodyPr wrap="none" lIns="0" rIns="0" tIns="0" bIns="0">
            <a:spAutoFit/>
          </a:bodyPr>
          <a:lstStyle/>
          <a:p>
            <a:pPr>
              <a:lnSpc>
                <a:spcPct val="115000"/>
              </a:lnSpc>
              <a:spcAft>
                <a:spcPts val="0"/>
              </a:spcAft>
              <a:defRPr sz="1100" b="0">
                <a:solidFill>
                  <a:srgbClr val="9BAFC8"/>
                </a:solidFill>
                <a:latin typeface="Segoe UI"/>
              </a:defRPr>
            </a:pPr>
            <a:r>
              <a:t>Actual 90-day engine output · synthetic business · estimates, not guarantees</a:t>
            </a:r>
          </a:p>
        </p:txBody>
      </p:sp>
      <p:sp>
        <p:nvSpPr>
          <p:cNvPr id="101" name="TextBox 100"/>
          <p:cNvSpPr txBox="1"/>
          <p:nvPr/>
        </p:nvSpPr>
        <p:spPr>
          <a:xfrm>
            <a:off x="9144000" y="2560320"/>
            <a:ext cx="2468880" cy="506603"/>
          </a:xfrm>
          <a:prstGeom prst="rect">
            <a:avLst/>
          </a:prstGeom>
          <a:noFill/>
        </p:spPr>
        <p:txBody>
          <a:bodyPr wrap="none" lIns="0" rIns="0" tIns="0" bIns="0">
            <a:spAutoFit/>
          </a:bodyPr>
          <a:lstStyle/>
          <a:p>
            <a:pPr>
              <a:lnSpc>
                <a:spcPct val="115000"/>
              </a:lnSpc>
              <a:spcAft>
                <a:spcPts val="0"/>
              </a:spcAft>
              <a:defRPr sz="2500" b="1">
                <a:solidFill>
                  <a:srgbClr val="52C7AA"/>
                </a:solidFill>
                <a:latin typeface="Segoe UI"/>
              </a:defRPr>
            </a:pPr>
            <a:r>
              <a:t>EUR -2,308.00</a:t>
            </a:r>
          </a:p>
        </p:txBody>
      </p:sp>
      <p:sp>
        <p:nvSpPr>
          <p:cNvPr id="102" name="TextBox 101"/>
          <p:cNvSpPr txBox="1"/>
          <p:nvPr/>
        </p:nvSpPr>
        <p:spPr>
          <a:xfrm>
            <a:off x="9144000" y="3246120"/>
            <a:ext cx="2377440" cy="331978"/>
          </a:xfrm>
          <a:prstGeom prst="rect">
            <a:avLst/>
          </a:prstGeom>
          <a:noFill/>
        </p:spPr>
        <p:txBody>
          <a:bodyPr wrap="none" lIns="0" rIns="0" tIns="0" bIns="0">
            <a:spAutoFit/>
          </a:bodyPr>
          <a:lstStyle/>
          <a:p>
            <a:pPr>
              <a:lnSpc>
                <a:spcPct val="115000"/>
              </a:lnSpc>
              <a:spcAft>
                <a:spcPts val="0"/>
              </a:spcAft>
              <a:defRPr sz="1400" b="0">
                <a:solidFill>
                  <a:srgbClr val="9BAFC8"/>
                </a:solidFill>
                <a:latin typeface="Segoe UI"/>
              </a:defRPr>
            </a:pPr>
            <a:r>
              <a:t>lowest projected cash</a:t>
            </a:r>
          </a:p>
        </p:txBody>
      </p:sp>
      <p:sp>
        <p:nvSpPr>
          <p:cNvPr id="103" name="TextBox 102"/>
          <p:cNvSpPr txBox="1"/>
          <p:nvPr/>
        </p:nvSpPr>
        <p:spPr>
          <a:xfrm>
            <a:off x="9144000" y="4251960"/>
            <a:ext cx="2377440" cy="570103"/>
          </a:xfrm>
          <a:prstGeom prst="rect">
            <a:avLst/>
          </a:prstGeom>
          <a:noFill/>
        </p:spPr>
        <p:txBody>
          <a:bodyPr wrap="none" lIns="0" rIns="0" tIns="0" bIns="0">
            <a:spAutoFit/>
          </a:bodyPr>
          <a:lstStyle/>
          <a:p>
            <a:pPr>
              <a:lnSpc>
                <a:spcPct val="115000"/>
              </a:lnSpc>
              <a:spcAft>
                <a:spcPts val="0"/>
              </a:spcAft>
              <a:defRPr sz="2900" b="1">
                <a:solidFill>
                  <a:srgbClr val="5DDBEF"/>
                </a:solidFill>
                <a:latin typeface="Segoe UI"/>
              </a:defRPr>
            </a:pPr>
            <a:r>
              <a:t>7 DAYS</a:t>
            </a:r>
          </a:p>
        </p:txBody>
      </p:sp>
      <p:sp>
        <p:nvSpPr>
          <p:cNvPr id="104" name="TextBox 103"/>
          <p:cNvSpPr txBox="1"/>
          <p:nvPr/>
        </p:nvSpPr>
        <p:spPr>
          <a:xfrm>
            <a:off x="9144000" y="4892040"/>
            <a:ext cx="2377440" cy="331978"/>
          </a:xfrm>
          <a:prstGeom prst="rect">
            <a:avLst/>
          </a:prstGeom>
          <a:noFill/>
        </p:spPr>
        <p:txBody>
          <a:bodyPr wrap="none" lIns="0" rIns="0" tIns="0" bIns="0">
            <a:spAutoFit/>
          </a:bodyPr>
          <a:lstStyle/>
          <a:p>
            <a:pPr>
              <a:lnSpc>
                <a:spcPct val="115000"/>
              </a:lnSpc>
              <a:spcAft>
                <a:spcPts val="0"/>
              </a:spcAft>
              <a:defRPr sz="1400" b="0">
                <a:solidFill>
                  <a:srgbClr val="9BAFC8"/>
                </a:solidFill>
                <a:latin typeface="Segoe UI"/>
              </a:defRPr>
            </a:pPr>
            <a:r>
              <a:t>below zero in baseline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789920" cy="331978"/>
          </a:xfrm>
          <a:prstGeom prst="rect">
            <a:avLst/>
          </a:prstGeom>
          <a:noFill/>
        </p:spPr>
        <p:txBody>
          <a:bodyPr wrap="none" lIns="0" rIns="0" tIns="0" bIns="0">
            <a:spAutoFit/>
          </a:bodyPr>
          <a:lstStyle/>
          <a:p>
            <a:pPr>
              <a:lnSpc>
                <a:spcPct val="115000"/>
              </a:lnSpc>
              <a:spcAft>
                <a:spcPts val="0"/>
              </a:spcAft>
              <a:defRPr sz="1400" b="1">
                <a:solidFill>
                  <a:srgbClr val="5DDBEF"/>
                </a:solidFill>
                <a:latin typeface="Segoe UI"/>
              </a:defRPr>
            </a:pPr>
            <a:r>
              <a:t>PULSE AI</a:t>
            </a:r>
          </a:p>
        </p:txBody>
      </p:sp>
      <p:sp>
        <p:nvSpPr>
          <p:cNvPr id="4" name="TextBox 3"/>
          <p:cNvSpPr txBox="1"/>
          <p:nvPr/>
        </p:nvSpPr>
        <p:spPr>
          <a:xfrm>
            <a:off x="8229600" y="320040"/>
            <a:ext cx="347472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FINTECHATHON 2026 / TOPIC E</a:t>
            </a:r>
          </a:p>
        </p:txBody>
      </p:sp>
      <p:cxnSp>
        <p:nvCxnSpPr>
          <p:cNvPr id="5" name="Connector 4"/>
          <p:cNvCxnSpPr/>
          <p:nvPr/>
        </p:nvCxnSpPr>
        <p:spPr>
          <a:xfrm>
            <a:off x="502920" y="6473952"/>
            <a:ext cx="11183112" cy="0"/>
          </a:xfrm>
          <a:prstGeom prst="line">
            <a:avLst/>
          </a:prstGeom>
          <a:ln w="10160">
            <a:solidFill>
              <a:srgbClr val="24375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65392"/>
            <a:ext cx="914400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FROM RISK TO RESCUE</a:t>
            </a:r>
          </a:p>
        </p:txBody>
      </p:sp>
      <p:sp>
        <p:nvSpPr>
          <p:cNvPr id="7" name="TextBox 6"/>
          <p:cNvSpPr txBox="1"/>
          <p:nvPr/>
        </p:nvSpPr>
        <p:spPr>
          <a:xfrm>
            <a:off x="11338560" y="6537960"/>
            <a:ext cx="365760" cy="284353"/>
          </a:xfrm>
          <a:prstGeom prst="rect">
            <a:avLst/>
          </a:prstGeom>
          <a:noFill/>
        </p:spPr>
        <p:txBody>
          <a:bodyPr wrap="none" lIns="0" rIns="0" tIns="0" bIns="0">
            <a:spAutoFit/>
          </a:bodyPr>
          <a:lstStyle/>
          <a:p>
            <a:pPr>
              <a:lnSpc>
                <a:spcPct val="115000"/>
              </a:lnSpc>
              <a:spcAft>
                <a:spcPts val="0"/>
              </a:spcAft>
              <a:defRPr sz="1100" b="0">
                <a:solidFill>
                  <a:srgbClr val="5DDBEF"/>
                </a:solidFill>
                <a:latin typeface="Segoe UI"/>
              </a:defRPr>
            </a:pPr>
            <a:r>
              <a:t>06</a:t>
            </a:r>
          </a:p>
        </p:txBody>
      </p:sp>
      <p:sp>
        <p:nvSpPr>
          <p:cNvPr id="8" name="TextBox 7"/>
          <p:cNvSpPr txBox="1"/>
          <p:nvPr/>
        </p:nvSpPr>
        <p:spPr>
          <a:xfrm>
            <a:off x="594360" y="960120"/>
            <a:ext cx="10789920" cy="665353"/>
          </a:xfrm>
          <a:prstGeom prst="rect">
            <a:avLst/>
          </a:prstGeom>
          <a:noFill/>
        </p:spPr>
        <p:txBody>
          <a:bodyPr wrap="none" lIns="0" rIns="0" tIns="0" bIns="0">
            <a:spAutoFit/>
          </a:bodyPr>
          <a:lstStyle/>
          <a:p>
            <a:pPr>
              <a:lnSpc>
                <a:spcPct val="115000"/>
              </a:lnSpc>
              <a:spcAft>
                <a:spcPts val="0"/>
              </a:spcAft>
              <a:defRPr sz="3500" b="1">
                <a:solidFill>
                  <a:srgbClr val="FFFFFF"/>
                </a:solidFill>
                <a:latin typeface="Segoe UI"/>
              </a:defRPr>
            </a:pPr>
            <a:r>
              <a:t>From Risk to Rescue</a:t>
            </a:r>
          </a:p>
        </p:txBody>
      </p:sp>
      <p:sp>
        <p:nvSpPr>
          <p:cNvPr id="9" name="TextBox 8"/>
          <p:cNvSpPr txBox="1"/>
          <p:nvPr/>
        </p:nvSpPr>
        <p:spPr>
          <a:xfrm>
            <a:off x="640080" y="1783080"/>
            <a:ext cx="10515600" cy="490727"/>
          </a:xfrm>
          <a:prstGeom prst="rect">
            <a:avLst/>
          </a:prstGeom>
          <a:noFill/>
        </p:spPr>
        <p:txBody>
          <a:bodyPr wrap="none" lIns="0" rIns="0" tIns="0" bIns="0">
            <a:spAutoFit/>
          </a:bodyPr>
          <a:lstStyle/>
          <a:p>
            <a:pPr>
              <a:lnSpc>
                <a:spcPct val="115000"/>
              </a:lnSpc>
              <a:spcAft>
                <a:spcPts val="0"/>
              </a:spcAft>
              <a:defRPr sz="2400" b="0">
                <a:solidFill>
                  <a:srgbClr val="5DDBEF"/>
                </a:solidFill>
                <a:latin typeface="Segoe UI"/>
              </a:defRPr>
            </a:pPr>
            <a:r>
              <a:t>What if suppliers grant 15 more days?</a:t>
            </a:r>
          </a:p>
        </p:txBody>
      </p:sp>
      <p:sp>
        <p:nvSpPr>
          <p:cNvPr id="10" name="Rectangle 9"/>
          <p:cNvSpPr/>
          <p:nvPr/>
        </p:nvSpPr>
        <p:spPr>
          <a:xfrm>
            <a:off x="685800" y="2560320"/>
            <a:ext cx="3108960" cy="1508760"/>
          </a:xfrm>
          <a:prstGeom prst="rect">
            <a:avLst/>
          </a:prstGeom>
          <a:solidFill>
            <a:srgbClr val="10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88920"/>
            <a:ext cx="10789920" cy="268478"/>
          </a:xfrm>
          <a:prstGeom prst="rect">
            <a:avLst/>
          </a:prstGeom>
          <a:noFill/>
        </p:spPr>
        <p:txBody>
          <a:bodyPr wrap="none" lIns="0" rIns="0" tIns="0" bIns="0">
            <a:spAutoFit/>
          </a:bodyPr>
          <a:lstStyle/>
          <a:p>
            <a:pPr>
              <a:lnSpc>
                <a:spcPct val="115000"/>
              </a:lnSpc>
              <a:spcAft>
                <a:spcPts val="0"/>
              </a:spcAft>
              <a:defRPr sz="1000" b="0">
                <a:solidFill>
                  <a:srgbClr val="9BAFC8"/>
                </a:solidFill>
                <a:latin typeface="Segoe UI"/>
              </a:defRPr>
            </a:pPr>
            <a:r>
              <a:t>BASELINE</a:t>
            </a:r>
          </a:p>
        </p:txBody>
      </p:sp>
      <p:sp>
        <p:nvSpPr>
          <p:cNvPr id="12" name="TextBox 11"/>
          <p:cNvSpPr txBox="1"/>
          <p:nvPr/>
        </p:nvSpPr>
        <p:spPr>
          <a:xfrm>
            <a:off x="868680" y="3200400"/>
            <a:ext cx="2788920" cy="538353"/>
          </a:xfrm>
          <a:prstGeom prst="rect">
            <a:avLst/>
          </a:prstGeom>
          <a:noFill/>
        </p:spPr>
        <p:txBody>
          <a:bodyPr wrap="none" lIns="0" rIns="0" tIns="0" bIns="0">
            <a:spAutoFit/>
          </a:bodyPr>
          <a:lstStyle/>
          <a:p>
            <a:pPr>
              <a:lnSpc>
                <a:spcPct val="115000"/>
              </a:lnSpc>
              <a:spcAft>
                <a:spcPts val="0"/>
              </a:spcAft>
              <a:defRPr sz="2700" b="1">
                <a:solidFill>
                  <a:srgbClr val="F3A9A0"/>
                </a:solidFill>
                <a:latin typeface="Segoe UI"/>
              </a:defRPr>
            </a:pPr>
            <a:r>
              <a:t>EUR -2,308.00</a:t>
            </a:r>
          </a:p>
        </p:txBody>
      </p:sp>
      <p:sp>
        <p:nvSpPr>
          <p:cNvPr id="13" name="Rectangle 12"/>
          <p:cNvSpPr/>
          <p:nvPr/>
        </p:nvSpPr>
        <p:spPr>
          <a:xfrm>
            <a:off x="4572000" y="2560320"/>
            <a:ext cx="3108960" cy="1508760"/>
          </a:xfrm>
          <a:prstGeom prst="rect">
            <a:avLst/>
          </a:prstGeom>
          <a:solidFill>
            <a:srgbClr val="10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2788920"/>
            <a:ext cx="10789920" cy="268478"/>
          </a:xfrm>
          <a:prstGeom prst="rect">
            <a:avLst/>
          </a:prstGeom>
          <a:noFill/>
        </p:spPr>
        <p:txBody>
          <a:bodyPr wrap="none" lIns="0" rIns="0" tIns="0" bIns="0">
            <a:spAutoFit/>
          </a:bodyPr>
          <a:lstStyle/>
          <a:p>
            <a:pPr>
              <a:lnSpc>
                <a:spcPct val="115000"/>
              </a:lnSpc>
              <a:spcAft>
                <a:spcPts val="0"/>
              </a:spcAft>
              <a:defRPr sz="1000" b="0">
                <a:solidFill>
                  <a:srgbClr val="9BAFC8"/>
                </a:solidFill>
                <a:latin typeface="Segoe UI"/>
              </a:defRPr>
            </a:pPr>
            <a:r>
              <a:t>SIMULATED</a:t>
            </a:r>
          </a:p>
        </p:txBody>
      </p:sp>
      <p:sp>
        <p:nvSpPr>
          <p:cNvPr id="15" name="TextBox 14"/>
          <p:cNvSpPr txBox="1"/>
          <p:nvPr/>
        </p:nvSpPr>
        <p:spPr>
          <a:xfrm>
            <a:off x="4754880" y="3200400"/>
            <a:ext cx="2788920" cy="538353"/>
          </a:xfrm>
          <a:prstGeom prst="rect">
            <a:avLst/>
          </a:prstGeom>
          <a:noFill/>
        </p:spPr>
        <p:txBody>
          <a:bodyPr wrap="none" lIns="0" rIns="0" tIns="0" bIns="0">
            <a:spAutoFit/>
          </a:bodyPr>
          <a:lstStyle/>
          <a:p>
            <a:pPr>
              <a:lnSpc>
                <a:spcPct val="115000"/>
              </a:lnSpc>
              <a:spcAft>
                <a:spcPts val="0"/>
              </a:spcAft>
              <a:defRPr sz="2700" b="1">
                <a:solidFill>
                  <a:srgbClr val="52C7AA"/>
                </a:solidFill>
                <a:latin typeface="Segoe UI"/>
              </a:defRPr>
            </a:pPr>
            <a:r>
              <a:t>EUR 2,064.00</a:t>
            </a:r>
          </a:p>
        </p:txBody>
      </p:sp>
      <p:sp>
        <p:nvSpPr>
          <p:cNvPr id="16" name="Rectangle 15"/>
          <p:cNvSpPr/>
          <p:nvPr/>
        </p:nvSpPr>
        <p:spPr>
          <a:xfrm>
            <a:off x="8412480" y="2560320"/>
            <a:ext cx="3108960" cy="1508760"/>
          </a:xfrm>
          <a:prstGeom prst="rect">
            <a:avLst/>
          </a:prstGeom>
          <a:solidFill>
            <a:srgbClr val="10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59" y="2788920"/>
            <a:ext cx="10789920" cy="268478"/>
          </a:xfrm>
          <a:prstGeom prst="rect">
            <a:avLst/>
          </a:prstGeom>
          <a:noFill/>
        </p:spPr>
        <p:txBody>
          <a:bodyPr wrap="none" lIns="0" rIns="0" tIns="0" bIns="0">
            <a:spAutoFit/>
          </a:bodyPr>
          <a:lstStyle/>
          <a:p>
            <a:pPr>
              <a:lnSpc>
                <a:spcPct val="115000"/>
              </a:lnSpc>
              <a:spcAft>
                <a:spcPts val="0"/>
              </a:spcAft>
              <a:defRPr sz="1000" b="0">
                <a:solidFill>
                  <a:srgbClr val="9BAFC8"/>
                </a:solidFill>
                <a:latin typeface="Segoe UI"/>
              </a:defRPr>
            </a:pPr>
            <a:r>
              <a:t>NEGATIVE DAYS</a:t>
            </a:r>
          </a:p>
        </p:txBody>
      </p:sp>
      <p:sp>
        <p:nvSpPr>
          <p:cNvPr id="18" name="TextBox 17"/>
          <p:cNvSpPr txBox="1"/>
          <p:nvPr/>
        </p:nvSpPr>
        <p:spPr>
          <a:xfrm>
            <a:off x="8595359" y="3200400"/>
            <a:ext cx="2788920" cy="538353"/>
          </a:xfrm>
          <a:prstGeom prst="rect">
            <a:avLst/>
          </a:prstGeom>
          <a:noFill/>
        </p:spPr>
        <p:txBody>
          <a:bodyPr wrap="none" lIns="0" rIns="0" tIns="0" bIns="0">
            <a:spAutoFit/>
          </a:bodyPr>
          <a:lstStyle/>
          <a:p>
            <a:pPr>
              <a:lnSpc>
                <a:spcPct val="115000"/>
              </a:lnSpc>
              <a:spcAft>
                <a:spcPts val="0"/>
              </a:spcAft>
              <a:defRPr sz="2700" b="1">
                <a:solidFill>
                  <a:srgbClr val="5DDBEF"/>
                </a:solidFill>
                <a:latin typeface="Segoe UI"/>
              </a:defRPr>
            </a:pPr>
            <a:r>
              <a:t>7 → 0</a:t>
            </a:r>
          </a:p>
        </p:txBody>
      </p:sp>
      <p:sp>
        <p:nvSpPr>
          <p:cNvPr id="19" name="TextBox 18"/>
          <p:cNvSpPr txBox="1"/>
          <p:nvPr/>
        </p:nvSpPr>
        <p:spPr>
          <a:xfrm>
            <a:off x="731520" y="4572000"/>
            <a:ext cx="10515600" cy="490727"/>
          </a:xfrm>
          <a:prstGeom prst="rect">
            <a:avLst/>
          </a:prstGeom>
          <a:noFill/>
        </p:spPr>
        <p:txBody>
          <a:bodyPr wrap="none" lIns="0" rIns="0" tIns="0" bIns="0">
            <a:spAutoFit/>
          </a:bodyPr>
          <a:lstStyle/>
          <a:p>
            <a:pPr>
              <a:lnSpc>
                <a:spcPct val="115000"/>
              </a:lnSpc>
              <a:spcAft>
                <a:spcPts val="0"/>
              </a:spcAft>
              <a:defRPr sz="2400" b="1">
                <a:solidFill>
                  <a:srgbClr val="52C7AA"/>
                </a:solidFill>
                <a:latin typeface="Segoe UI"/>
              </a:defRPr>
            </a:pPr>
            <a:r>
              <a:t>EUR 4,372 improvement in the lowest cash point.</a:t>
            </a:r>
          </a:p>
        </p:txBody>
      </p:sp>
      <p:sp>
        <p:nvSpPr>
          <p:cNvPr id="20" name="TextBox 19"/>
          <p:cNvSpPr txBox="1"/>
          <p:nvPr/>
        </p:nvSpPr>
        <p:spPr>
          <a:xfrm>
            <a:off x="731520" y="5212080"/>
            <a:ext cx="10515600" cy="379603"/>
          </a:xfrm>
          <a:prstGeom prst="rect">
            <a:avLst/>
          </a:prstGeom>
          <a:noFill/>
        </p:spPr>
        <p:txBody>
          <a:bodyPr wrap="none" lIns="0" rIns="0" tIns="0" bIns="0">
            <a:spAutoFit/>
          </a:bodyPr>
          <a:lstStyle/>
          <a:p>
            <a:pPr>
              <a:lnSpc>
                <a:spcPct val="115000"/>
              </a:lnSpc>
              <a:spcAft>
                <a:spcPts val="0"/>
              </a:spcAft>
              <a:defRPr sz="1700" b="0">
                <a:solidFill>
                  <a:srgbClr val="9BAFC8"/>
                </a:solidFill>
                <a:latin typeface="Segoe UI"/>
              </a:defRPr>
            </a:pPr>
            <a:r>
              <a:t>A conditional scenario, not a guarantee. Collection and credit alternatives are also ranked by engine results.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789920" cy="331978"/>
          </a:xfrm>
          <a:prstGeom prst="rect">
            <a:avLst/>
          </a:prstGeom>
          <a:noFill/>
        </p:spPr>
        <p:txBody>
          <a:bodyPr wrap="none" lIns="0" rIns="0" tIns="0" bIns="0">
            <a:spAutoFit/>
          </a:bodyPr>
          <a:lstStyle/>
          <a:p>
            <a:pPr>
              <a:lnSpc>
                <a:spcPct val="115000"/>
              </a:lnSpc>
              <a:spcAft>
                <a:spcPts val="0"/>
              </a:spcAft>
              <a:defRPr sz="1400" b="1">
                <a:solidFill>
                  <a:srgbClr val="5DDBEF"/>
                </a:solidFill>
                <a:latin typeface="Segoe UI"/>
              </a:defRPr>
            </a:pPr>
            <a:r>
              <a:t>PULSE AI</a:t>
            </a:r>
          </a:p>
        </p:txBody>
      </p:sp>
      <p:sp>
        <p:nvSpPr>
          <p:cNvPr id="4" name="TextBox 3"/>
          <p:cNvSpPr txBox="1"/>
          <p:nvPr/>
        </p:nvSpPr>
        <p:spPr>
          <a:xfrm>
            <a:off x="8229600" y="320040"/>
            <a:ext cx="347472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FINTECHATHON 2026 / TOPIC E</a:t>
            </a:r>
          </a:p>
        </p:txBody>
      </p:sp>
      <p:cxnSp>
        <p:nvCxnSpPr>
          <p:cNvPr id="5" name="Connector 4"/>
          <p:cNvCxnSpPr/>
          <p:nvPr/>
        </p:nvCxnSpPr>
        <p:spPr>
          <a:xfrm>
            <a:off x="502920" y="6473952"/>
            <a:ext cx="11183112" cy="0"/>
          </a:xfrm>
          <a:prstGeom prst="line">
            <a:avLst/>
          </a:prstGeom>
          <a:ln w="10160">
            <a:solidFill>
              <a:srgbClr val="24375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65392"/>
            <a:ext cx="914400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AGENTIC AI ARCHITECTURE</a:t>
            </a:r>
          </a:p>
        </p:txBody>
      </p:sp>
      <p:sp>
        <p:nvSpPr>
          <p:cNvPr id="7" name="TextBox 6"/>
          <p:cNvSpPr txBox="1"/>
          <p:nvPr/>
        </p:nvSpPr>
        <p:spPr>
          <a:xfrm>
            <a:off x="11338560" y="6537960"/>
            <a:ext cx="365760" cy="284353"/>
          </a:xfrm>
          <a:prstGeom prst="rect">
            <a:avLst/>
          </a:prstGeom>
          <a:noFill/>
        </p:spPr>
        <p:txBody>
          <a:bodyPr wrap="none" lIns="0" rIns="0" tIns="0" bIns="0">
            <a:spAutoFit/>
          </a:bodyPr>
          <a:lstStyle/>
          <a:p>
            <a:pPr>
              <a:lnSpc>
                <a:spcPct val="115000"/>
              </a:lnSpc>
              <a:spcAft>
                <a:spcPts val="0"/>
              </a:spcAft>
              <a:defRPr sz="1100" b="0">
                <a:solidFill>
                  <a:srgbClr val="5DDBEF"/>
                </a:solidFill>
                <a:latin typeface="Segoe UI"/>
              </a:defRPr>
            </a:pPr>
            <a:r>
              <a:t>07</a:t>
            </a:r>
          </a:p>
        </p:txBody>
      </p:sp>
      <p:sp>
        <p:nvSpPr>
          <p:cNvPr id="8" name="TextBox 7"/>
          <p:cNvSpPr txBox="1"/>
          <p:nvPr/>
        </p:nvSpPr>
        <p:spPr>
          <a:xfrm>
            <a:off x="594360" y="960120"/>
            <a:ext cx="10789920" cy="665353"/>
          </a:xfrm>
          <a:prstGeom prst="rect">
            <a:avLst/>
          </a:prstGeom>
          <a:noFill/>
        </p:spPr>
        <p:txBody>
          <a:bodyPr wrap="none" lIns="0" rIns="0" tIns="0" bIns="0">
            <a:spAutoFit/>
          </a:bodyPr>
          <a:lstStyle/>
          <a:p>
            <a:pPr>
              <a:lnSpc>
                <a:spcPct val="115000"/>
              </a:lnSpc>
              <a:spcAft>
                <a:spcPts val="0"/>
              </a:spcAft>
              <a:defRPr sz="3500" b="1">
                <a:solidFill>
                  <a:srgbClr val="FFFFFF"/>
                </a:solidFill>
                <a:latin typeface="Segoe UI"/>
              </a:defRPr>
            </a:pPr>
            <a:r>
              <a:t>Agentic AI Architecture</a:t>
            </a:r>
          </a:p>
        </p:txBody>
      </p:sp>
      <p:sp>
        <p:nvSpPr>
          <p:cNvPr id="9" name="TextBox 8"/>
          <p:cNvSpPr txBox="1"/>
          <p:nvPr/>
        </p:nvSpPr>
        <p:spPr>
          <a:xfrm>
            <a:off x="640080" y="1737360"/>
            <a:ext cx="10789920" cy="443103"/>
          </a:xfrm>
          <a:prstGeom prst="rect">
            <a:avLst/>
          </a:prstGeom>
          <a:noFill/>
        </p:spPr>
        <p:txBody>
          <a:bodyPr wrap="none" lIns="0" rIns="0" tIns="0" bIns="0">
            <a:spAutoFit/>
          </a:bodyPr>
          <a:lstStyle/>
          <a:p>
            <a:pPr>
              <a:lnSpc>
                <a:spcPct val="115000"/>
              </a:lnSpc>
              <a:spcAft>
                <a:spcPts val="0"/>
              </a:spcAft>
              <a:defRPr sz="2100" b="0">
                <a:solidFill>
                  <a:srgbClr val="9BAFC8"/>
                </a:solidFill>
                <a:latin typeface="Segoe UI"/>
              </a:defRPr>
            </a:pPr>
            <a:r>
              <a:t>Specialist roles. Registered tools. Scoped data.</a:t>
            </a:r>
          </a:p>
        </p:txBody>
      </p:sp>
      <p:sp>
        <p:nvSpPr>
          <p:cNvPr id="10" name="Rectangle 9"/>
          <p:cNvSpPr/>
          <p:nvPr/>
        </p:nvSpPr>
        <p:spPr>
          <a:xfrm>
            <a:off x="640080" y="2743200"/>
            <a:ext cx="2697480" cy="1508760"/>
          </a:xfrm>
          <a:prstGeom prst="rect">
            <a:avLst/>
          </a:prstGeom>
          <a:solidFill>
            <a:srgbClr val="10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3017520"/>
            <a:ext cx="2377440" cy="395478"/>
          </a:xfrm>
          <a:prstGeom prst="rect">
            <a:avLst/>
          </a:prstGeom>
          <a:noFill/>
        </p:spPr>
        <p:txBody>
          <a:bodyPr wrap="none" lIns="0" rIns="0" tIns="0" bIns="0">
            <a:spAutoFit/>
          </a:bodyPr>
          <a:lstStyle/>
          <a:p>
            <a:pPr>
              <a:lnSpc>
                <a:spcPct val="115000"/>
              </a:lnSpc>
              <a:spcAft>
                <a:spcPts val="0"/>
              </a:spcAft>
              <a:defRPr sz="1800" b="1">
                <a:solidFill>
                  <a:srgbClr val="5DDBEF"/>
                </a:solidFill>
                <a:latin typeface="Segoe UI"/>
              </a:defRPr>
            </a:pPr>
            <a:r>
              <a:t>Financial Analyst</a:t>
            </a:r>
          </a:p>
        </p:txBody>
      </p:sp>
      <p:sp>
        <p:nvSpPr>
          <p:cNvPr id="12" name="TextBox 11"/>
          <p:cNvSpPr txBox="1"/>
          <p:nvPr/>
        </p:nvSpPr>
        <p:spPr>
          <a:xfrm>
            <a:off x="804671" y="3657600"/>
            <a:ext cx="2331720" cy="300228"/>
          </a:xfrm>
          <a:prstGeom prst="rect">
            <a:avLst/>
          </a:prstGeom>
          <a:noFill/>
        </p:spPr>
        <p:txBody>
          <a:bodyPr wrap="none" lIns="0" rIns="0" tIns="0" bIns="0">
            <a:spAutoFit/>
          </a:bodyPr>
          <a:lstStyle/>
          <a:p>
            <a:pPr>
              <a:lnSpc>
                <a:spcPct val="115000"/>
              </a:lnSpc>
              <a:spcAft>
                <a:spcPts val="0"/>
              </a:spcAft>
              <a:defRPr sz="1200" b="0">
                <a:solidFill>
                  <a:srgbClr val="9BAFC8"/>
                </a:solidFill>
                <a:latin typeface="Segoe UI"/>
              </a:defRPr>
            </a:pPr>
            <a:r>
              <a:t>Liquidity and invoices</a:t>
            </a:r>
          </a:p>
        </p:txBody>
      </p:sp>
      <p:sp>
        <p:nvSpPr>
          <p:cNvPr id="13" name="Rectangle 12"/>
          <p:cNvSpPr/>
          <p:nvPr/>
        </p:nvSpPr>
        <p:spPr>
          <a:xfrm>
            <a:off x="3520439" y="2743200"/>
            <a:ext cx="2697480" cy="1508760"/>
          </a:xfrm>
          <a:prstGeom prst="rect">
            <a:avLst/>
          </a:prstGeom>
          <a:solidFill>
            <a:srgbClr val="10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85031" y="3017520"/>
            <a:ext cx="2377440" cy="395478"/>
          </a:xfrm>
          <a:prstGeom prst="rect">
            <a:avLst/>
          </a:prstGeom>
          <a:noFill/>
        </p:spPr>
        <p:txBody>
          <a:bodyPr wrap="none" lIns="0" rIns="0" tIns="0" bIns="0">
            <a:spAutoFit/>
          </a:bodyPr>
          <a:lstStyle/>
          <a:p>
            <a:pPr>
              <a:lnSpc>
                <a:spcPct val="115000"/>
              </a:lnSpc>
              <a:spcAft>
                <a:spcPts val="0"/>
              </a:spcAft>
              <a:defRPr sz="1800" b="1">
                <a:solidFill>
                  <a:srgbClr val="5DDBEF"/>
                </a:solidFill>
                <a:latin typeface="Segoe UI"/>
              </a:defRPr>
            </a:pPr>
            <a:r>
              <a:t>Forecast Analyst</a:t>
            </a:r>
          </a:p>
        </p:txBody>
      </p:sp>
      <p:sp>
        <p:nvSpPr>
          <p:cNvPr id="15" name="TextBox 14"/>
          <p:cNvSpPr txBox="1"/>
          <p:nvPr/>
        </p:nvSpPr>
        <p:spPr>
          <a:xfrm>
            <a:off x="3685031" y="3657600"/>
            <a:ext cx="2331720" cy="300228"/>
          </a:xfrm>
          <a:prstGeom prst="rect">
            <a:avLst/>
          </a:prstGeom>
          <a:noFill/>
        </p:spPr>
        <p:txBody>
          <a:bodyPr wrap="none" lIns="0" rIns="0" tIns="0" bIns="0">
            <a:spAutoFit/>
          </a:bodyPr>
          <a:lstStyle/>
          <a:p>
            <a:pPr>
              <a:lnSpc>
                <a:spcPct val="115000"/>
              </a:lnSpc>
              <a:spcAft>
                <a:spcPts val="0"/>
              </a:spcAft>
              <a:defRPr sz="1200" b="0">
                <a:solidFill>
                  <a:srgbClr val="9BAFC8"/>
                </a:solidFill>
                <a:latin typeface="Segoe UI"/>
              </a:defRPr>
            </a:pPr>
            <a:r>
              <a:t>Dates and risk drivers</a:t>
            </a:r>
          </a:p>
        </p:txBody>
      </p:sp>
      <p:sp>
        <p:nvSpPr>
          <p:cNvPr id="16" name="Rectangle 15"/>
          <p:cNvSpPr/>
          <p:nvPr/>
        </p:nvSpPr>
        <p:spPr>
          <a:xfrm>
            <a:off x="6400800" y="2743200"/>
            <a:ext cx="2697480" cy="1508760"/>
          </a:xfrm>
          <a:prstGeom prst="rect">
            <a:avLst/>
          </a:prstGeom>
          <a:solidFill>
            <a:srgbClr val="10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3017520"/>
            <a:ext cx="2377440" cy="395478"/>
          </a:xfrm>
          <a:prstGeom prst="rect">
            <a:avLst/>
          </a:prstGeom>
          <a:noFill/>
        </p:spPr>
        <p:txBody>
          <a:bodyPr wrap="none" lIns="0" rIns="0" tIns="0" bIns="0">
            <a:spAutoFit/>
          </a:bodyPr>
          <a:lstStyle/>
          <a:p>
            <a:pPr>
              <a:lnSpc>
                <a:spcPct val="115000"/>
              </a:lnSpc>
              <a:spcAft>
                <a:spcPts val="0"/>
              </a:spcAft>
              <a:defRPr sz="1800" b="1">
                <a:solidFill>
                  <a:srgbClr val="5DDBEF"/>
                </a:solidFill>
                <a:latin typeface="Segoe UI"/>
              </a:defRPr>
            </a:pPr>
            <a:r>
              <a:t>Strategic Planner</a:t>
            </a:r>
          </a:p>
        </p:txBody>
      </p:sp>
      <p:sp>
        <p:nvSpPr>
          <p:cNvPr id="18" name="TextBox 17"/>
          <p:cNvSpPr txBox="1"/>
          <p:nvPr/>
        </p:nvSpPr>
        <p:spPr>
          <a:xfrm>
            <a:off x="6565392" y="3657600"/>
            <a:ext cx="2331720" cy="300228"/>
          </a:xfrm>
          <a:prstGeom prst="rect">
            <a:avLst/>
          </a:prstGeom>
          <a:noFill/>
        </p:spPr>
        <p:txBody>
          <a:bodyPr wrap="none" lIns="0" rIns="0" tIns="0" bIns="0">
            <a:spAutoFit/>
          </a:bodyPr>
          <a:lstStyle/>
          <a:p>
            <a:pPr>
              <a:lnSpc>
                <a:spcPct val="115000"/>
              </a:lnSpc>
              <a:spcAft>
                <a:spcPts val="0"/>
              </a:spcAft>
              <a:defRPr sz="1200" b="0">
                <a:solidFill>
                  <a:srgbClr val="9BAFC8"/>
                </a:solidFill>
                <a:latin typeface="Segoe UI"/>
              </a:defRPr>
            </a:pPr>
            <a:r>
              <a:t>Simulations and rescues</a:t>
            </a:r>
          </a:p>
        </p:txBody>
      </p:sp>
      <p:sp>
        <p:nvSpPr>
          <p:cNvPr id="19" name="Rectangle 18"/>
          <p:cNvSpPr/>
          <p:nvPr/>
        </p:nvSpPr>
        <p:spPr>
          <a:xfrm>
            <a:off x="9281159" y="2743200"/>
            <a:ext cx="2697480" cy="1508760"/>
          </a:xfrm>
          <a:prstGeom prst="rect">
            <a:avLst/>
          </a:prstGeom>
          <a:solidFill>
            <a:srgbClr val="10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45751" y="3017520"/>
            <a:ext cx="2377440" cy="395478"/>
          </a:xfrm>
          <a:prstGeom prst="rect">
            <a:avLst/>
          </a:prstGeom>
          <a:noFill/>
        </p:spPr>
        <p:txBody>
          <a:bodyPr wrap="none" lIns="0" rIns="0" tIns="0" bIns="0">
            <a:spAutoFit/>
          </a:bodyPr>
          <a:lstStyle/>
          <a:p>
            <a:pPr>
              <a:lnSpc>
                <a:spcPct val="115000"/>
              </a:lnSpc>
              <a:spcAft>
                <a:spcPts val="0"/>
              </a:spcAft>
              <a:defRPr sz="1800" b="1">
                <a:solidFill>
                  <a:srgbClr val="5DDBEF"/>
                </a:solidFill>
                <a:latin typeface="Segoe UI"/>
              </a:defRPr>
            </a:pPr>
            <a:r>
              <a:t>Risk Guardian</a:t>
            </a:r>
          </a:p>
        </p:txBody>
      </p:sp>
      <p:sp>
        <p:nvSpPr>
          <p:cNvPr id="21" name="TextBox 20"/>
          <p:cNvSpPr txBox="1"/>
          <p:nvPr/>
        </p:nvSpPr>
        <p:spPr>
          <a:xfrm>
            <a:off x="9445751" y="3657600"/>
            <a:ext cx="2331720" cy="300228"/>
          </a:xfrm>
          <a:prstGeom prst="rect">
            <a:avLst/>
          </a:prstGeom>
          <a:noFill/>
        </p:spPr>
        <p:txBody>
          <a:bodyPr wrap="none" lIns="0" rIns="0" tIns="0" bIns="0">
            <a:spAutoFit/>
          </a:bodyPr>
          <a:lstStyle/>
          <a:p>
            <a:pPr>
              <a:lnSpc>
                <a:spcPct val="115000"/>
              </a:lnSpc>
              <a:spcAft>
                <a:spcPts val="0"/>
              </a:spcAft>
              <a:defRPr sz="1200" b="0">
                <a:solidFill>
                  <a:srgbClr val="9BAFC8"/>
                </a:solidFill>
                <a:latin typeface="Segoe UI"/>
              </a:defRPr>
            </a:pPr>
            <a:r>
              <a:t>Tool scope and permissions</a:t>
            </a:r>
          </a:p>
        </p:txBody>
      </p:sp>
      <p:sp>
        <p:nvSpPr>
          <p:cNvPr id="22" name="TextBox 21"/>
          <p:cNvSpPr txBox="1"/>
          <p:nvPr/>
        </p:nvSpPr>
        <p:spPr>
          <a:xfrm>
            <a:off x="731520" y="4709160"/>
            <a:ext cx="10789920" cy="458978"/>
          </a:xfrm>
          <a:prstGeom prst="rect">
            <a:avLst/>
          </a:prstGeom>
          <a:noFill/>
        </p:spPr>
        <p:txBody>
          <a:bodyPr wrap="none" lIns="0" rIns="0" tIns="0" bIns="0">
            <a:spAutoFit/>
          </a:bodyPr>
          <a:lstStyle/>
          <a:p>
            <a:pPr>
              <a:lnSpc>
                <a:spcPct val="115000"/>
              </a:lnSpc>
              <a:spcAft>
                <a:spcPts val="0"/>
              </a:spcAft>
              <a:defRPr sz="2200" b="0">
                <a:solidFill>
                  <a:srgbClr val="52C7AA"/>
                </a:solidFill>
                <a:latin typeface="Segoe UI"/>
              </a:defRPr>
            </a:pPr>
            <a:r>
              <a:t>Orchestrator → deterministic tools → explanation / proposal</a:t>
            </a:r>
          </a:p>
        </p:txBody>
      </p:sp>
      <p:sp>
        <p:nvSpPr>
          <p:cNvPr id="23" name="TextBox 22"/>
          <p:cNvSpPr txBox="1"/>
          <p:nvPr/>
        </p:nvSpPr>
        <p:spPr>
          <a:xfrm>
            <a:off x="731520" y="5486400"/>
            <a:ext cx="10789920" cy="331978"/>
          </a:xfrm>
          <a:prstGeom prst="rect">
            <a:avLst/>
          </a:prstGeom>
          <a:noFill/>
        </p:spPr>
        <p:txBody>
          <a:bodyPr wrap="none" lIns="0" rIns="0" tIns="0" bIns="0">
            <a:spAutoFit/>
          </a:bodyPr>
          <a:lstStyle/>
          <a:p>
            <a:pPr>
              <a:lnSpc>
                <a:spcPct val="115000"/>
              </a:lnSpc>
              <a:spcAft>
                <a:spcPts val="0"/>
              </a:spcAft>
              <a:defRPr sz="1400" b="0">
                <a:solidFill>
                  <a:srgbClr val="9BAFC8"/>
                </a:solidFill>
                <a:latin typeface="Segoe UI"/>
              </a:defRPr>
            </a:pPr>
            <a:r>
              <a:t>No RAG claim. No direct payment tool. LLM tool calling is optional.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789920" cy="331978"/>
          </a:xfrm>
          <a:prstGeom prst="rect">
            <a:avLst/>
          </a:prstGeom>
          <a:noFill/>
        </p:spPr>
        <p:txBody>
          <a:bodyPr wrap="none" lIns="0" rIns="0" tIns="0" bIns="0">
            <a:spAutoFit/>
          </a:bodyPr>
          <a:lstStyle/>
          <a:p>
            <a:pPr>
              <a:lnSpc>
                <a:spcPct val="115000"/>
              </a:lnSpc>
              <a:spcAft>
                <a:spcPts val="0"/>
              </a:spcAft>
              <a:defRPr sz="1400" b="1">
                <a:solidFill>
                  <a:srgbClr val="5DDBEF"/>
                </a:solidFill>
                <a:latin typeface="Segoe UI"/>
              </a:defRPr>
            </a:pPr>
            <a:r>
              <a:t>PULSE AI</a:t>
            </a:r>
          </a:p>
        </p:txBody>
      </p:sp>
      <p:sp>
        <p:nvSpPr>
          <p:cNvPr id="4" name="TextBox 3"/>
          <p:cNvSpPr txBox="1"/>
          <p:nvPr/>
        </p:nvSpPr>
        <p:spPr>
          <a:xfrm>
            <a:off x="8229600" y="320040"/>
            <a:ext cx="347472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FINTECHATHON 2026 / TOPIC E</a:t>
            </a:r>
          </a:p>
        </p:txBody>
      </p:sp>
      <p:cxnSp>
        <p:nvCxnSpPr>
          <p:cNvPr id="5" name="Connector 4"/>
          <p:cNvCxnSpPr/>
          <p:nvPr/>
        </p:nvCxnSpPr>
        <p:spPr>
          <a:xfrm>
            <a:off x="502920" y="6473952"/>
            <a:ext cx="11183112" cy="0"/>
          </a:xfrm>
          <a:prstGeom prst="line">
            <a:avLst/>
          </a:prstGeom>
          <a:ln w="10160">
            <a:solidFill>
              <a:srgbClr val="24375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65392"/>
            <a:ext cx="914400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LIVE DEMO AND EXECUTION EVIDENCE</a:t>
            </a:r>
          </a:p>
        </p:txBody>
      </p:sp>
      <p:sp>
        <p:nvSpPr>
          <p:cNvPr id="7" name="TextBox 6"/>
          <p:cNvSpPr txBox="1"/>
          <p:nvPr/>
        </p:nvSpPr>
        <p:spPr>
          <a:xfrm>
            <a:off x="11338560" y="6537960"/>
            <a:ext cx="365760" cy="284353"/>
          </a:xfrm>
          <a:prstGeom prst="rect">
            <a:avLst/>
          </a:prstGeom>
          <a:noFill/>
        </p:spPr>
        <p:txBody>
          <a:bodyPr wrap="none" lIns="0" rIns="0" tIns="0" bIns="0">
            <a:spAutoFit/>
          </a:bodyPr>
          <a:lstStyle/>
          <a:p>
            <a:pPr>
              <a:lnSpc>
                <a:spcPct val="115000"/>
              </a:lnSpc>
              <a:spcAft>
                <a:spcPts val="0"/>
              </a:spcAft>
              <a:defRPr sz="1100" b="0">
                <a:solidFill>
                  <a:srgbClr val="5DDBEF"/>
                </a:solidFill>
                <a:latin typeface="Segoe UI"/>
              </a:defRPr>
            </a:pPr>
            <a:r>
              <a:t>08</a:t>
            </a:r>
          </a:p>
        </p:txBody>
      </p:sp>
      <p:sp>
        <p:nvSpPr>
          <p:cNvPr id="8" name="TextBox 7"/>
          <p:cNvSpPr txBox="1"/>
          <p:nvPr/>
        </p:nvSpPr>
        <p:spPr>
          <a:xfrm>
            <a:off x="594360" y="960120"/>
            <a:ext cx="10789920" cy="665353"/>
          </a:xfrm>
          <a:prstGeom prst="rect">
            <a:avLst/>
          </a:prstGeom>
          <a:noFill/>
        </p:spPr>
        <p:txBody>
          <a:bodyPr wrap="none" lIns="0" rIns="0" tIns="0" bIns="0">
            <a:spAutoFit/>
          </a:bodyPr>
          <a:lstStyle/>
          <a:p>
            <a:pPr>
              <a:lnSpc>
                <a:spcPct val="115000"/>
              </a:lnSpc>
              <a:spcAft>
                <a:spcPts val="0"/>
              </a:spcAft>
              <a:defRPr sz="3500" b="1">
                <a:solidFill>
                  <a:srgbClr val="FFFFFF"/>
                </a:solidFill>
                <a:latin typeface="Segoe UI"/>
              </a:defRPr>
            </a:pPr>
            <a:r>
              <a:t>Live Demo and Execution Evidence</a:t>
            </a:r>
          </a:p>
        </p:txBody>
      </p:sp>
      <p:pic>
        <p:nvPicPr>
          <p:cNvPr id="9" name="Picture 8" descr="07_ai_copilot.png"/>
          <p:cNvPicPr>
            <a:picLocks noChangeAspect="1"/>
          </p:cNvPicPr>
          <p:nvPr/>
        </p:nvPicPr>
        <p:blipFill>
          <a:blip r:embed="rId2"/>
          <a:stretch>
            <a:fillRect/>
          </a:stretch>
        </p:blipFill>
        <p:spPr>
          <a:xfrm>
            <a:off x="594360" y="1828800"/>
            <a:ext cx="5623560" cy="3514725"/>
          </a:xfrm>
          <a:prstGeom prst="rect">
            <a:avLst/>
          </a:prstGeom>
        </p:spPr>
      </p:pic>
      <p:pic>
        <p:nvPicPr>
          <p:cNvPr id="10" name="Picture 9" descr="11_execution_history.png"/>
          <p:cNvPicPr>
            <a:picLocks noChangeAspect="1"/>
          </p:cNvPicPr>
          <p:nvPr/>
        </p:nvPicPr>
        <p:blipFill>
          <a:blip r:embed="rId3"/>
          <a:stretch>
            <a:fillRect/>
          </a:stretch>
        </p:blipFill>
        <p:spPr>
          <a:xfrm>
            <a:off x="6355080" y="1828800"/>
            <a:ext cx="5303520" cy="3314699"/>
          </a:xfrm>
          <a:prstGeom prst="rect">
            <a:avLst/>
          </a:prstGeom>
        </p:spPr>
      </p:pic>
      <p:sp>
        <p:nvSpPr>
          <p:cNvPr id="11" name="TextBox 10"/>
          <p:cNvSpPr txBox="1"/>
          <p:nvPr/>
        </p:nvSpPr>
        <p:spPr>
          <a:xfrm>
            <a:off x="731520" y="5486400"/>
            <a:ext cx="10881360" cy="379603"/>
          </a:xfrm>
          <a:prstGeom prst="rect">
            <a:avLst/>
          </a:prstGeom>
          <a:noFill/>
        </p:spPr>
        <p:txBody>
          <a:bodyPr wrap="none" lIns="0" rIns="0" tIns="0" bIns="0">
            <a:spAutoFit/>
          </a:bodyPr>
          <a:lstStyle/>
          <a:p>
            <a:pPr>
              <a:lnSpc>
                <a:spcPct val="115000"/>
              </a:lnSpc>
              <a:spcAft>
                <a:spcPts val="0"/>
              </a:spcAft>
              <a:defRPr sz="1700" b="0">
                <a:solidFill>
                  <a:srgbClr val="52C7AA"/>
                </a:solidFill>
                <a:latin typeface="Segoe UI"/>
              </a:defRPr>
            </a:pPr>
            <a:r>
              <a:t>86 tests passed · Real browser capture · No customer dispatch in this demo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789920" cy="331978"/>
          </a:xfrm>
          <a:prstGeom prst="rect">
            <a:avLst/>
          </a:prstGeom>
          <a:noFill/>
        </p:spPr>
        <p:txBody>
          <a:bodyPr wrap="none" lIns="0" rIns="0" tIns="0" bIns="0">
            <a:spAutoFit/>
          </a:bodyPr>
          <a:lstStyle/>
          <a:p>
            <a:pPr>
              <a:lnSpc>
                <a:spcPct val="115000"/>
              </a:lnSpc>
              <a:spcAft>
                <a:spcPts val="0"/>
              </a:spcAft>
              <a:defRPr sz="1400" b="1">
                <a:solidFill>
                  <a:srgbClr val="5DDBEF"/>
                </a:solidFill>
                <a:latin typeface="Segoe UI"/>
              </a:defRPr>
            </a:pPr>
            <a:r>
              <a:t>PULSE AI</a:t>
            </a:r>
          </a:p>
        </p:txBody>
      </p:sp>
      <p:sp>
        <p:nvSpPr>
          <p:cNvPr id="4" name="TextBox 3"/>
          <p:cNvSpPr txBox="1"/>
          <p:nvPr/>
        </p:nvSpPr>
        <p:spPr>
          <a:xfrm>
            <a:off x="8229600" y="320040"/>
            <a:ext cx="347472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FINTECHATHON 2026 / TOPIC E</a:t>
            </a:r>
          </a:p>
        </p:txBody>
      </p:sp>
      <p:cxnSp>
        <p:nvCxnSpPr>
          <p:cNvPr id="5" name="Connector 4"/>
          <p:cNvCxnSpPr/>
          <p:nvPr/>
        </p:nvCxnSpPr>
        <p:spPr>
          <a:xfrm>
            <a:off x="502920" y="6473952"/>
            <a:ext cx="11183112" cy="0"/>
          </a:xfrm>
          <a:prstGeom prst="line">
            <a:avLst/>
          </a:prstGeom>
          <a:ln w="10160">
            <a:solidFill>
              <a:srgbClr val="24375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65392"/>
            <a:ext cx="914400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SECURITY AND HUMAN CONTROL</a:t>
            </a:r>
          </a:p>
        </p:txBody>
      </p:sp>
      <p:sp>
        <p:nvSpPr>
          <p:cNvPr id="7" name="TextBox 6"/>
          <p:cNvSpPr txBox="1"/>
          <p:nvPr/>
        </p:nvSpPr>
        <p:spPr>
          <a:xfrm>
            <a:off x="11338560" y="6537960"/>
            <a:ext cx="365760" cy="284353"/>
          </a:xfrm>
          <a:prstGeom prst="rect">
            <a:avLst/>
          </a:prstGeom>
          <a:noFill/>
        </p:spPr>
        <p:txBody>
          <a:bodyPr wrap="none" lIns="0" rIns="0" tIns="0" bIns="0">
            <a:spAutoFit/>
          </a:bodyPr>
          <a:lstStyle/>
          <a:p>
            <a:pPr>
              <a:lnSpc>
                <a:spcPct val="115000"/>
              </a:lnSpc>
              <a:spcAft>
                <a:spcPts val="0"/>
              </a:spcAft>
              <a:defRPr sz="1100" b="0">
                <a:solidFill>
                  <a:srgbClr val="5DDBEF"/>
                </a:solidFill>
                <a:latin typeface="Segoe UI"/>
              </a:defRPr>
            </a:pPr>
            <a:r>
              <a:t>09</a:t>
            </a:r>
          </a:p>
        </p:txBody>
      </p:sp>
      <p:sp>
        <p:nvSpPr>
          <p:cNvPr id="8" name="TextBox 7"/>
          <p:cNvSpPr txBox="1"/>
          <p:nvPr/>
        </p:nvSpPr>
        <p:spPr>
          <a:xfrm>
            <a:off x="594360" y="960120"/>
            <a:ext cx="10789920" cy="665353"/>
          </a:xfrm>
          <a:prstGeom prst="rect">
            <a:avLst/>
          </a:prstGeom>
          <a:noFill/>
        </p:spPr>
        <p:txBody>
          <a:bodyPr wrap="none" lIns="0" rIns="0" tIns="0" bIns="0">
            <a:spAutoFit/>
          </a:bodyPr>
          <a:lstStyle/>
          <a:p>
            <a:pPr>
              <a:lnSpc>
                <a:spcPct val="115000"/>
              </a:lnSpc>
              <a:spcAft>
                <a:spcPts val="0"/>
              </a:spcAft>
              <a:defRPr sz="3500" b="1">
                <a:solidFill>
                  <a:srgbClr val="FFFFFF"/>
                </a:solidFill>
                <a:latin typeface="Segoe UI"/>
              </a:defRPr>
            </a:pPr>
            <a:r>
              <a:t>Security and Human Control</a:t>
            </a:r>
          </a:p>
        </p:txBody>
      </p:sp>
      <p:sp>
        <p:nvSpPr>
          <p:cNvPr id="9" name="TextBox 8"/>
          <p:cNvSpPr txBox="1"/>
          <p:nvPr/>
        </p:nvSpPr>
        <p:spPr>
          <a:xfrm>
            <a:off x="640080" y="1828800"/>
            <a:ext cx="10972800" cy="490727"/>
          </a:xfrm>
          <a:prstGeom prst="rect">
            <a:avLst/>
          </a:prstGeom>
          <a:noFill/>
        </p:spPr>
        <p:txBody>
          <a:bodyPr wrap="none" lIns="0" rIns="0" tIns="0" bIns="0">
            <a:spAutoFit/>
          </a:bodyPr>
          <a:lstStyle/>
          <a:p>
            <a:pPr>
              <a:lnSpc>
                <a:spcPct val="115000"/>
              </a:lnSpc>
              <a:spcAft>
                <a:spcPts val="0"/>
              </a:spcAft>
              <a:defRPr sz="2400" b="0">
                <a:solidFill>
                  <a:srgbClr val="5DDBEF"/>
                </a:solidFill>
                <a:latin typeface="Segoe UI"/>
              </a:defRPr>
            </a:pPr>
            <a:r>
              <a:t>Propose → Review → Approve → Execute → Audit</a:t>
            </a:r>
          </a:p>
        </p:txBody>
      </p:sp>
      <p:sp>
        <p:nvSpPr>
          <p:cNvPr id="10" name="Rectangle 9"/>
          <p:cNvSpPr/>
          <p:nvPr/>
        </p:nvSpPr>
        <p:spPr>
          <a:xfrm>
            <a:off x="685800" y="2743200"/>
            <a:ext cx="3566160" cy="1554480"/>
          </a:xfrm>
          <a:prstGeom prst="rect">
            <a:avLst/>
          </a:prstGeom>
          <a:solidFill>
            <a:srgbClr val="10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99232"/>
            <a:ext cx="3200400" cy="458978"/>
          </a:xfrm>
          <a:prstGeom prst="rect">
            <a:avLst/>
          </a:prstGeom>
          <a:noFill/>
        </p:spPr>
        <p:txBody>
          <a:bodyPr wrap="none" lIns="0" rIns="0" tIns="0" bIns="0">
            <a:spAutoFit/>
          </a:bodyPr>
          <a:lstStyle/>
          <a:p>
            <a:pPr>
              <a:lnSpc>
                <a:spcPct val="115000"/>
              </a:lnSpc>
              <a:spcAft>
                <a:spcPts val="0"/>
              </a:spcAft>
              <a:defRPr sz="2200" b="1">
                <a:solidFill>
                  <a:srgbClr val="52C7AA"/>
                </a:solidFill>
                <a:latin typeface="Segoe UI"/>
              </a:defRPr>
            </a:pPr>
            <a:r>
              <a:t>Identity</a:t>
            </a:r>
          </a:p>
        </p:txBody>
      </p:sp>
      <p:sp>
        <p:nvSpPr>
          <p:cNvPr id="12" name="TextBox 11"/>
          <p:cNvSpPr txBox="1"/>
          <p:nvPr/>
        </p:nvSpPr>
        <p:spPr>
          <a:xfrm>
            <a:off x="868680" y="3611880"/>
            <a:ext cx="3108960" cy="363728"/>
          </a:xfrm>
          <a:prstGeom prst="rect">
            <a:avLst/>
          </a:prstGeom>
          <a:noFill/>
        </p:spPr>
        <p:txBody>
          <a:bodyPr wrap="none" lIns="0" rIns="0" tIns="0" bIns="0">
            <a:spAutoFit/>
          </a:bodyPr>
          <a:lstStyle/>
          <a:p>
            <a:pPr>
              <a:lnSpc>
                <a:spcPct val="115000"/>
              </a:lnSpc>
              <a:spcAft>
                <a:spcPts val="0"/>
              </a:spcAft>
              <a:defRPr sz="1600" b="0">
                <a:solidFill>
                  <a:srgbClr val="9BAFC8"/>
                </a:solidFill>
                <a:latin typeface="Segoe UI"/>
              </a:defRPr>
            </a:pPr>
            <a:r>
              <a:t>JWT, bcrypt, email OTP</a:t>
            </a:r>
          </a:p>
        </p:txBody>
      </p:sp>
      <p:sp>
        <p:nvSpPr>
          <p:cNvPr id="13" name="Rectangle 12"/>
          <p:cNvSpPr/>
          <p:nvPr/>
        </p:nvSpPr>
        <p:spPr>
          <a:xfrm>
            <a:off x="4480560" y="2743200"/>
            <a:ext cx="3566160" cy="1554480"/>
          </a:xfrm>
          <a:prstGeom prst="rect">
            <a:avLst/>
          </a:prstGeom>
          <a:solidFill>
            <a:srgbClr val="10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2999232"/>
            <a:ext cx="3200400" cy="458978"/>
          </a:xfrm>
          <a:prstGeom prst="rect">
            <a:avLst/>
          </a:prstGeom>
          <a:noFill/>
        </p:spPr>
        <p:txBody>
          <a:bodyPr wrap="none" lIns="0" rIns="0" tIns="0" bIns="0">
            <a:spAutoFit/>
          </a:bodyPr>
          <a:lstStyle/>
          <a:p>
            <a:pPr>
              <a:lnSpc>
                <a:spcPct val="115000"/>
              </a:lnSpc>
              <a:spcAft>
                <a:spcPts val="0"/>
              </a:spcAft>
              <a:defRPr sz="2200" b="1">
                <a:solidFill>
                  <a:srgbClr val="52C7AA"/>
                </a:solidFill>
                <a:latin typeface="Segoe UI"/>
              </a:defRPr>
            </a:pPr>
            <a:r>
              <a:t>Scope</a:t>
            </a:r>
          </a:p>
        </p:txBody>
      </p:sp>
      <p:sp>
        <p:nvSpPr>
          <p:cNvPr id="15" name="TextBox 14"/>
          <p:cNvSpPr txBox="1"/>
          <p:nvPr/>
        </p:nvSpPr>
        <p:spPr>
          <a:xfrm>
            <a:off x="4663440" y="3611880"/>
            <a:ext cx="3108960" cy="363728"/>
          </a:xfrm>
          <a:prstGeom prst="rect">
            <a:avLst/>
          </a:prstGeom>
          <a:noFill/>
        </p:spPr>
        <p:txBody>
          <a:bodyPr wrap="none" lIns="0" rIns="0" tIns="0" bIns="0">
            <a:spAutoFit/>
          </a:bodyPr>
          <a:lstStyle/>
          <a:p>
            <a:pPr>
              <a:lnSpc>
                <a:spcPct val="115000"/>
              </a:lnSpc>
              <a:spcAft>
                <a:spcPts val="0"/>
              </a:spcAft>
              <a:defRPr sz="1600" b="0">
                <a:solidFill>
                  <a:srgbClr val="9BAFC8"/>
                </a:solidFill>
                <a:latin typeface="Segoe UI"/>
              </a:defRPr>
            </a:pPr>
            <a:r>
              <a:t>Organization and role checks</a:t>
            </a:r>
          </a:p>
        </p:txBody>
      </p:sp>
      <p:sp>
        <p:nvSpPr>
          <p:cNvPr id="16" name="Rectangle 15"/>
          <p:cNvSpPr/>
          <p:nvPr/>
        </p:nvSpPr>
        <p:spPr>
          <a:xfrm>
            <a:off x="8275320" y="2743200"/>
            <a:ext cx="3566160" cy="1554480"/>
          </a:xfrm>
          <a:prstGeom prst="rect">
            <a:avLst/>
          </a:prstGeom>
          <a:solidFill>
            <a:srgbClr val="102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2999232"/>
            <a:ext cx="3200400" cy="458978"/>
          </a:xfrm>
          <a:prstGeom prst="rect">
            <a:avLst/>
          </a:prstGeom>
          <a:noFill/>
        </p:spPr>
        <p:txBody>
          <a:bodyPr wrap="none" lIns="0" rIns="0" tIns="0" bIns="0">
            <a:spAutoFit/>
          </a:bodyPr>
          <a:lstStyle/>
          <a:p>
            <a:pPr>
              <a:lnSpc>
                <a:spcPct val="115000"/>
              </a:lnSpc>
              <a:spcAft>
                <a:spcPts val="0"/>
              </a:spcAft>
              <a:defRPr sz="2200" b="1">
                <a:solidFill>
                  <a:srgbClr val="52C7AA"/>
                </a:solidFill>
                <a:latin typeface="Segoe UI"/>
              </a:defRPr>
            </a:pPr>
            <a:r>
              <a:t>Control</a:t>
            </a:r>
          </a:p>
        </p:txBody>
      </p:sp>
      <p:sp>
        <p:nvSpPr>
          <p:cNvPr id="18" name="TextBox 17"/>
          <p:cNvSpPr txBox="1"/>
          <p:nvPr/>
        </p:nvSpPr>
        <p:spPr>
          <a:xfrm>
            <a:off x="8458200" y="3611880"/>
            <a:ext cx="3108960" cy="363728"/>
          </a:xfrm>
          <a:prstGeom prst="rect">
            <a:avLst/>
          </a:prstGeom>
          <a:noFill/>
        </p:spPr>
        <p:txBody>
          <a:bodyPr wrap="none" lIns="0" rIns="0" tIns="0" bIns="0">
            <a:spAutoFit/>
          </a:bodyPr>
          <a:lstStyle/>
          <a:p>
            <a:pPr>
              <a:lnSpc>
                <a:spcPct val="115000"/>
              </a:lnSpc>
              <a:spcAft>
                <a:spcPts val="0"/>
              </a:spcAft>
              <a:defRPr sz="1600" b="0">
                <a:solidFill>
                  <a:srgbClr val="9BAFC8"/>
                </a:solidFill>
                <a:latin typeface="Segoe UI"/>
              </a:defRPr>
            </a:pPr>
            <a:r>
              <a:t>Approval before execution</a:t>
            </a:r>
          </a:p>
        </p:txBody>
      </p:sp>
      <p:sp>
        <p:nvSpPr>
          <p:cNvPr id="19" name="TextBox 18"/>
          <p:cNvSpPr txBox="1"/>
          <p:nvPr/>
        </p:nvSpPr>
        <p:spPr>
          <a:xfrm>
            <a:off x="731520" y="4846320"/>
            <a:ext cx="10789920" cy="458978"/>
          </a:xfrm>
          <a:prstGeom prst="rect">
            <a:avLst/>
          </a:prstGeom>
          <a:noFill/>
        </p:spPr>
        <p:txBody>
          <a:bodyPr wrap="none" lIns="0" rIns="0" tIns="0" bIns="0">
            <a:spAutoFit/>
          </a:bodyPr>
          <a:lstStyle/>
          <a:p>
            <a:pPr>
              <a:lnSpc>
                <a:spcPct val="115000"/>
              </a:lnSpc>
              <a:spcAft>
                <a:spcPts val="0"/>
              </a:spcAft>
              <a:defRPr sz="2200" b="1">
                <a:solidFill>
                  <a:srgbClr val="FFFFFF"/>
                </a:solidFill>
                <a:latin typeface="Segoe UI"/>
              </a:defRPr>
            </a:pPr>
            <a:r>
              <a:t>Honest boundaries</a:t>
            </a:r>
          </a:p>
        </p:txBody>
      </p:sp>
      <p:sp>
        <p:nvSpPr>
          <p:cNvPr id="20" name="TextBox 19"/>
          <p:cNvSpPr txBox="1"/>
          <p:nvPr/>
        </p:nvSpPr>
        <p:spPr>
          <a:xfrm>
            <a:off x="731520" y="5349240"/>
            <a:ext cx="10789920" cy="379603"/>
          </a:xfrm>
          <a:prstGeom prst="rect">
            <a:avLst/>
          </a:prstGeom>
          <a:noFill/>
        </p:spPr>
        <p:txBody>
          <a:bodyPr wrap="none" lIns="0" rIns="0" tIns="0" bIns="0">
            <a:spAutoFit/>
          </a:bodyPr>
          <a:lstStyle/>
          <a:p>
            <a:pPr>
              <a:lnSpc>
                <a:spcPct val="115000"/>
              </a:lnSpc>
              <a:spcAft>
                <a:spcPts val="0"/>
              </a:spcAft>
              <a:defRPr sz="1700" b="0">
                <a:solidFill>
                  <a:srgbClr val="9BAFC8"/>
                </a:solidFill>
                <a:latin typeface="Segoe UI"/>
              </a:defRPr>
            </a:pPr>
            <a:r>
              <a:t>Next: stronger concurrent idempotency, rate limits, session hardening and validated deployment policies.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789920" cy="331978"/>
          </a:xfrm>
          <a:prstGeom prst="rect">
            <a:avLst/>
          </a:prstGeom>
          <a:noFill/>
        </p:spPr>
        <p:txBody>
          <a:bodyPr wrap="none" lIns="0" rIns="0" tIns="0" bIns="0">
            <a:spAutoFit/>
          </a:bodyPr>
          <a:lstStyle/>
          <a:p>
            <a:pPr>
              <a:lnSpc>
                <a:spcPct val="115000"/>
              </a:lnSpc>
              <a:spcAft>
                <a:spcPts val="0"/>
              </a:spcAft>
              <a:defRPr sz="1400" b="1">
                <a:solidFill>
                  <a:srgbClr val="5DDBEF"/>
                </a:solidFill>
                <a:latin typeface="Segoe UI"/>
              </a:defRPr>
            </a:pPr>
            <a:r>
              <a:t>PULSE AI</a:t>
            </a:r>
          </a:p>
        </p:txBody>
      </p:sp>
      <p:sp>
        <p:nvSpPr>
          <p:cNvPr id="4" name="TextBox 3"/>
          <p:cNvSpPr txBox="1"/>
          <p:nvPr/>
        </p:nvSpPr>
        <p:spPr>
          <a:xfrm>
            <a:off x="8229600" y="320040"/>
            <a:ext cx="347472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FINTECHATHON 2026 / TOPIC E</a:t>
            </a:r>
          </a:p>
        </p:txBody>
      </p:sp>
      <p:cxnSp>
        <p:nvCxnSpPr>
          <p:cNvPr id="5" name="Connector 4"/>
          <p:cNvCxnSpPr/>
          <p:nvPr/>
        </p:nvCxnSpPr>
        <p:spPr>
          <a:xfrm>
            <a:off x="502920" y="6473952"/>
            <a:ext cx="11183112" cy="0"/>
          </a:xfrm>
          <a:prstGeom prst="line">
            <a:avLst/>
          </a:prstGeom>
          <a:ln w="10160">
            <a:solidFill>
              <a:srgbClr val="24375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65392"/>
            <a:ext cx="9144000" cy="236728"/>
          </a:xfrm>
          <a:prstGeom prst="rect">
            <a:avLst/>
          </a:prstGeom>
          <a:noFill/>
        </p:spPr>
        <p:txBody>
          <a:bodyPr wrap="none" lIns="0" rIns="0" tIns="0" bIns="0">
            <a:spAutoFit/>
          </a:bodyPr>
          <a:lstStyle/>
          <a:p>
            <a:pPr>
              <a:lnSpc>
                <a:spcPct val="115000"/>
              </a:lnSpc>
              <a:spcAft>
                <a:spcPts val="0"/>
              </a:spcAft>
              <a:defRPr sz="800" b="0">
                <a:solidFill>
                  <a:srgbClr val="9BAFC8"/>
                </a:solidFill>
                <a:latin typeface="Segoe UI"/>
              </a:defRPr>
            </a:pPr>
            <a:r>
              <a:t>IMPACT AND FUTURE VISION</a:t>
            </a:r>
          </a:p>
        </p:txBody>
      </p:sp>
      <p:sp>
        <p:nvSpPr>
          <p:cNvPr id="7" name="TextBox 6"/>
          <p:cNvSpPr txBox="1"/>
          <p:nvPr/>
        </p:nvSpPr>
        <p:spPr>
          <a:xfrm>
            <a:off x="11338560" y="6537960"/>
            <a:ext cx="365760" cy="284353"/>
          </a:xfrm>
          <a:prstGeom prst="rect">
            <a:avLst/>
          </a:prstGeom>
          <a:noFill/>
        </p:spPr>
        <p:txBody>
          <a:bodyPr wrap="none" lIns="0" rIns="0" tIns="0" bIns="0">
            <a:spAutoFit/>
          </a:bodyPr>
          <a:lstStyle/>
          <a:p>
            <a:pPr>
              <a:lnSpc>
                <a:spcPct val="115000"/>
              </a:lnSpc>
              <a:spcAft>
                <a:spcPts val="0"/>
              </a:spcAft>
              <a:defRPr sz="1100" b="0">
                <a:solidFill>
                  <a:srgbClr val="5DDBEF"/>
                </a:solidFill>
                <a:latin typeface="Segoe UI"/>
              </a:defRPr>
            </a:pPr>
            <a:r>
              <a:t>10</a:t>
            </a:r>
          </a:p>
        </p:txBody>
      </p:sp>
      <p:sp>
        <p:nvSpPr>
          <p:cNvPr id="8" name="TextBox 7"/>
          <p:cNvSpPr txBox="1"/>
          <p:nvPr/>
        </p:nvSpPr>
        <p:spPr>
          <a:xfrm>
            <a:off x="594360" y="1005840"/>
            <a:ext cx="10515600" cy="1411478"/>
          </a:xfrm>
          <a:prstGeom prst="rect">
            <a:avLst/>
          </a:prstGeom>
          <a:noFill/>
        </p:spPr>
        <p:txBody>
          <a:bodyPr wrap="none" lIns="0" rIns="0" tIns="0" bIns="0">
            <a:spAutoFit/>
          </a:bodyPr>
          <a:lstStyle/>
          <a:p>
            <a:pPr>
              <a:lnSpc>
                <a:spcPct val="115000"/>
              </a:lnSpc>
              <a:spcAft>
                <a:spcPts val="0"/>
              </a:spcAft>
              <a:defRPr sz="4100" b="1">
                <a:solidFill>
                  <a:srgbClr val="5DDBEF"/>
                </a:solidFill>
                <a:latin typeface="Segoe UI"/>
              </a:defRPr>
            </a:pPr>
            <a:r>
              <a:t>Better foresight.</a:t>
            </a:r>
          </a:p>
          <a:p>
            <a:pPr>
              <a:lnSpc>
                <a:spcPct val="115000"/>
              </a:lnSpc>
              <a:spcAft>
                <a:spcPts val="0"/>
              </a:spcAft>
              <a:defRPr sz="4100" b="1">
                <a:solidFill>
                  <a:srgbClr val="5DDBEF"/>
                </a:solidFill>
                <a:latin typeface="Segoe UI"/>
              </a:defRPr>
            </a:pPr>
            <a:r>
              <a:t>More deliberate decisions.</a:t>
            </a:r>
          </a:p>
        </p:txBody>
      </p:sp>
      <p:sp>
        <p:nvSpPr>
          <p:cNvPr id="9" name="TextBox 8"/>
          <p:cNvSpPr txBox="1"/>
          <p:nvPr/>
        </p:nvSpPr>
        <p:spPr>
          <a:xfrm>
            <a:off x="685800" y="3063240"/>
            <a:ext cx="10789920" cy="284353"/>
          </a:xfrm>
          <a:prstGeom prst="rect">
            <a:avLst/>
          </a:prstGeom>
          <a:noFill/>
        </p:spPr>
        <p:txBody>
          <a:bodyPr wrap="none" lIns="0" rIns="0" tIns="0" bIns="0">
            <a:spAutoFit/>
          </a:bodyPr>
          <a:lstStyle/>
          <a:p>
            <a:pPr>
              <a:lnSpc>
                <a:spcPct val="115000"/>
              </a:lnSpc>
              <a:spcAft>
                <a:spcPts val="0"/>
              </a:spcAft>
              <a:defRPr sz="1100" b="1">
                <a:solidFill>
                  <a:srgbClr val="52C7AA"/>
                </a:solidFill>
                <a:latin typeface="Segoe UI"/>
              </a:defRPr>
            </a:pPr>
            <a:r>
              <a:t>IMPLEMENTED NOW</a:t>
            </a:r>
          </a:p>
        </p:txBody>
      </p:sp>
      <p:sp>
        <p:nvSpPr>
          <p:cNvPr id="10" name="TextBox 9"/>
          <p:cNvSpPr txBox="1"/>
          <p:nvPr/>
        </p:nvSpPr>
        <p:spPr>
          <a:xfrm>
            <a:off x="685800" y="3474720"/>
            <a:ext cx="10698480" cy="871728"/>
          </a:xfrm>
          <a:prstGeom prst="rect">
            <a:avLst/>
          </a:prstGeom>
          <a:noFill/>
        </p:spPr>
        <p:txBody>
          <a:bodyPr wrap="none" lIns="0" rIns="0" tIns="0" bIns="0">
            <a:spAutoFit/>
          </a:bodyPr>
          <a:lstStyle/>
          <a:p>
            <a:pPr>
              <a:lnSpc>
                <a:spcPct val="115000"/>
              </a:lnSpc>
              <a:spcAft>
                <a:spcPts val="0"/>
              </a:spcAft>
              <a:defRPr sz="2400" b="0">
                <a:solidFill>
                  <a:srgbClr val="FFFFFF"/>
                </a:solidFill>
                <a:latin typeface="Segoe UI"/>
              </a:defRPr>
            </a:pPr>
            <a:r>
              <a:t>Deterministic engine + Digital Twin + optional copilot + human-approved</a:t>
            </a:r>
          </a:p>
          <a:p>
            <a:pPr>
              <a:lnSpc>
                <a:spcPct val="115000"/>
              </a:lnSpc>
              <a:spcAft>
                <a:spcPts val="0"/>
              </a:spcAft>
              <a:defRPr sz="2400" b="0">
                <a:solidFill>
                  <a:srgbClr val="FFFFFF"/>
                </a:solidFill>
                <a:latin typeface="Segoe UI"/>
              </a:defRPr>
            </a:pPr>
            <a:r>
              <a:t>workflows</a:t>
            </a:r>
          </a:p>
        </p:txBody>
      </p:sp>
      <p:sp>
        <p:nvSpPr>
          <p:cNvPr id="11" name="TextBox 10"/>
          <p:cNvSpPr txBox="1"/>
          <p:nvPr/>
        </p:nvSpPr>
        <p:spPr>
          <a:xfrm>
            <a:off x="685800" y="4709160"/>
            <a:ext cx="10789920" cy="284353"/>
          </a:xfrm>
          <a:prstGeom prst="rect">
            <a:avLst/>
          </a:prstGeom>
          <a:noFill/>
        </p:spPr>
        <p:txBody>
          <a:bodyPr wrap="none" lIns="0" rIns="0" tIns="0" bIns="0">
            <a:spAutoFit/>
          </a:bodyPr>
          <a:lstStyle/>
          <a:p>
            <a:pPr>
              <a:lnSpc>
                <a:spcPct val="115000"/>
              </a:lnSpc>
              <a:spcAft>
                <a:spcPts val="0"/>
              </a:spcAft>
              <a:defRPr sz="1100" b="1">
                <a:solidFill>
                  <a:srgbClr val="52C7AA"/>
                </a:solidFill>
                <a:latin typeface="Segoe UI"/>
              </a:defRPr>
            </a:pPr>
            <a:r>
              <a:t>NEXT CHAPTER</a:t>
            </a:r>
          </a:p>
        </p:txBody>
      </p:sp>
      <p:sp>
        <p:nvSpPr>
          <p:cNvPr id="12" name="TextBox 11"/>
          <p:cNvSpPr txBox="1"/>
          <p:nvPr/>
        </p:nvSpPr>
        <p:spPr>
          <a:xfrm>
            <a:off x="685800" y="5074920"/>
            <a:ext cx="10607040" cy="395478"/>
          </a:xfrm>
          <a:prstGeom prst="rect">
            <a:avLst/>
          </a:prstGeom>
          <a:noFill/>
        </p:spPr>
        <p:txBody>
          <a:bodyPr wrap="none" lIns="0" rIns="0" tIns="0" bIns="0">
            <a:spAutoFit/>
          </a:bodyPr>
          <a:lstStyle/>
          <a:p>
            <a:pPr>
              <a:lnSpc>
                <a:spcPct val="115000"/>
              </a:lnSpc>
              <a:spcAft>
                <a:spcPts val="0"/>
              </a:spcAft>
              <a:defRPr sz="1800" b="0">
                <a:solidFill>
                  <a:srgbClr val="9BAFC8"/>
                </a:solidFill>
                <a:latin typeface="Segoe UI"/>
              </a:defRPr>
            </a:pPr>
            <a:r>
              <a:t>Shared Supabase deployment · Bank feeds · Calibrated uncertainty · Production hardening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